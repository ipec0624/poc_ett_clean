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45" d="100"/>
          <a:sy n="45" d="100"/>
        </p:scale>
        <p:origin x="39" y="9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1"/>
                </a:solidFill>
                <a:latin typeface="Yu Gothic"/>
              </a:defRPr>
            </a:pPr>
            <a:r>
              <a:rPr lang="en-US" altLang="ja-JP" sz="1300" b="0" i="0" u="none" strike="noStrike">
                <a:solidFill>
                  <a:srgbClr val="1B2A41"/>
                </a:solidFill>
                <a:latin typeface="Yu Gothic"/>
              </a:rPr>
              <a:t>1</a:t>
            </a:r>
            <a:r>
              <a:rPr lang="ja-JP" altLang="en-US" sz="1300" b="0" i="0" u="none" strike="noStrike">
                <a:solidFill>
                  <a:srgbClr val="1B2A41"/>
                </a:solidFill>
                <a:latin typeface="Yu Gothic"/>
              </a:rPr>
              <a:t>ステップ前との自己相関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OT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5C6370"/>
                    </a:solidFill>
                    <a:latin typeface="Yu Gothic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ETTh1</c:v>
                </c:pt>
                <c:pt idx="1">
                  <c:v>ETTh2</c:v>
                </c:pt>
                <c:pt idx="2">
                  <c:v>ETTm1</c:v>
                </c:pt>
                <c:pt idx="3">
                  <c:v>ETTm2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0.99399999999999999</c:v>
                </c:pt>
                <c:pt idx="1">
                  <c:v>0.99399999999999999</c:v>
                </c:pt>
                <c:pt idx="2">
                  <c:v>0.999</c:v>
                </c:pt>
                <c:pt idx="3">
                  <c:v>0.999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448-46D8-9FB8-D5DAE2A5503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ΔOT（1ステップの変化量）</c:v>
                </c:pt>
              </c:strCache>
            </c:strRef>
          </c:tx>
          <c:spPr>
            <a:solidFill>
              <a:srgbClr val="E0592A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5C6370"/>
                    </a:solidFill>
                    <a:latin typeface="Yu Gothic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ETTh1</c:v>
                </c:pt>
                <c:pt idx="1">
                  <c:v>ETTh2</c:v>
                </c:pt>
                <c:pt idx="2">
                  <c:v>ETTm1</c:v>
                </c:pt>
                <c:pt idx="3">
                  <c:v>ETTm2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-1.2E-2</c:v>
                </c:pt>
                <c:pt idx="1">
                  <c:v>0.67900000000000005</c:v>
                </c:pt>
                <c:pt idx="2">
                  <c:v>7.9000000000000001E-2</c:v>
                </c:pt>
                <c:pt idx="3">
                  <c:v>0.441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448-46D8-9FB8-D5DAE2A5503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370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2"/>
          <c:min val="-0.2"/>
        </c:scaling>
        <c:delete val="0"/>
        <c:axPos val="l"/>
        <c:majorGridlines>
          <c:spPr>
            <a:ln w="9525" cap="flat">
              <a:solidFill>
                <a:srgbClr val="E6E8E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370"/>
                </a:solidFill>
                <a:latin typeface="Yu Gothic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328"/>
              </a:solidFill>
              <a:latin typeface="Yu Gothic"/>
              <a:cs typeface="Yu Gothic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1"/>
                </a:solidFill>
                <a:latin typeface="Yu Gothic"/>
              </a:defRPr>
            </a:pPr>
            <a:r>
              <a:rPr lang="ja-JP" altLang="en-US" sz="1300" b="0" i="0" u="none" strike="noStrike">
                <a:solidFill>
                  <a:srgbClr val="1B2A41"/>
                </a:solidFill>
                <a:latin typeface="Yu Gothic"/>
              </a:rPr>
              <a:t>時刻別の</a:t>
            </a:r>
            <a:r>
              <a:rPr lang="en-US" altLang="ja-JP" sz="1300" b="0" i="0" u="none" strike="noStrike">
                <a:solidFill>
                  <a:srgbClr val="1B2A41"/>
                </a:solidFill>
                <a:latin typeface="Yu Gothic"/>
              </a:rPr>
              <a:t>OT</a:t>
            </a:r>
            <a:r>
              <a:rPr lang="ja-JP" altLang="en-US" sz="1300" b="0" i="0" u="none" strike="noStrike">
                <a:solidFill>
                  <a:srgbClr val="1B2A41"/>
                </a:solidFill>
                <a:latin typeface="Yu Gothic"/>
              </a:rPr>
              <a:t>（日平均との差、℃）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ETTh1</c:v>
                </c:pt>
              </c:strCache>
            </c:strRef>
          </c:tx>
          <c:spPr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strRef>
              <c:f>Sheet1!$A$2:$A$25</c:f>
              <c:strCach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strCache>
            </c:strRef>
          </c:cat>
          <c:val>
            <c:numRef>
              <c:f>Sheet1!$B$2:$B$25</c:f>
              <c:numCache>
                <c:formatCode>General</c:formatCode>
                <c:ptCount val="24"/>
                <c:pt idx="0">
                  <c:v>-0.45</c:v>
                </c:pt>
                <c:pt idx="1">
                  <c:v>-0.55000000000000004</c:v>
                </c:pt>
                <c:pt idx="2">
                  <c:v>-0.61</c:v>
                </c:pt>
                <c:pt idx="3">
                  <c:v>-0.73</c:v>
                </c:pt>
                <c:pt idx="4">
                  <c:v>-0.84</c:v>
                </c:pt>
                <c:pt idx="5">
                  <c:v>-0.95</c:v>
                </c:pt>
                <c:pt idx="6">
                  <c:v>-1</c:v>
                </c:pt>
                <c:pt idx="7">
                  <c:v>-0.85</c:v>
                </c:pt>
                <c:pt idx="8">
                  <c:v>-0.57999999999999996</c:v>
                </c:pt>
                <c:pt idx="9">
                  <c:v>-0.5</c:v>
                </c:pt>
                <c:pt idx="10">
                  <c:v>-0.16</c:v>
                </c:pt>
                <c:pt idx="11">
                  <c:v>0.1</c:v>
                </c:pt>
                <c:pt idx="12">
                  <c:v>0.25</c:v>
                </c:pt>
                <c:pt idx="13">
                  <c:v>0.69</c:v>
                </c:pt>
                <c:pt idx="14">
                  <c:v>1.29</c:v>
                </c:pt>
                <c:pt idx="15">
                  <c:v>1.32</c:v>
                </c:pt>
                <c:pt idx="16">
                  <c:v>1.39</c:v>
                </c:pt>
                <c:pt idx="17">
                  <c:v>1.27</c:v>
                </c:pt>
                <c:pt idx="18">
                  <c:v>0.88</c:v>
                </c:pt>
                <c:pt idx="19">
                  <c:v>0.45</c:v>
                </c:pt>
                <c:pt idx="20">
                  <c:v>0.14000000000000001</c:v>
                </c:pt>
                <c:pt idx="21">
                  <c:v>-0.04</c:v>
                </c:pt>
                <c:pt idx="22">
                  <c:v>-0.17</c:v>
                </c:pt>
                <c:pt idx="23">
                  <c:v>-0.36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051-4BBA-A675-E160AEF2C35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ETTh2</c:v>
                </c:pt>
              </c:strCache>
            </c:strRef>
          </c:tx>
          <c:spPr>
            <a:ln w="25400" cap="flat">
              <a:solidFill>
                <a:srgbClr val="E0592A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E0592A"/>
              </a:solidFill>
              <a:ln w="9525" cap="flat">
                <a:solidFill>
                  <a:srgbClr val="E0592A"/>
                </a:solidFill>
                <a:prstDash val="solid"/>
                <a:round/>
              </a:ln>
              <a:effectLst/>
            </c:spPr>
          </c:marker>
          <c:cat>
            <c:strRef>
              <c:f>Sheet1!$A$2:$A$25</c:f>
              <c:strCach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strCache>
            </c:strRef>
          </c:cat>
          <c:val>
            <c:numRef>
              <c:f>Sheet1!$C$2:$C$25</c:f>
              <c:numCache>
                <c:formatCode>General</c:formatCode>
                <c:ptCount val="24"/>
                <c:pt idx="0">
                  <c:v>-1.54</c:v>
                </c:pt>
                <c:pt idx="1">
                  <c:v>-1.96</c:v>
                </c:pt>
                <c:pt idx="2">
                  <c:v>-2.41</c:v>
                </c:pt>
                <c:pt idx="3">
                  <c:v>-2.84</c:v>
                </c:pt>
                <c:pt idx="4">
                  <c:v>-3.27</c:v>
                </c:pt>
                <c:pt idx="5">
                  <c:v>-3.67</c:v>
                </c:pt>
                <c:pt idx="6">
                  <c:v>-3.99</c:v>
                </c:pt>
                <c:pt idx="7">
                  <c:v>-4.08</c:v>
                </c:pt>
                <c:pt idx="8">
                  <c:v>-3.56</c:v>
                </c:pt>
                <c:pt idx="9">
                  <c:v>-2.27</c:v>
                </c:pt>
                <c:pt idx="10">
                  <c:v>-0.48</c:v>
                </c:pt>
                <c:pt idx="11">
                  <c:v>1.49</c:v>
                </c:pt>
                <c:pt idx="12">
                  <c:v>2.97</c:v>
                </c:pt>
                <c:pt idx="13">
                  <c:v>3.98</c:v>
                </c:pt>
                <c:pt idx="14">
                  <c:v>5.05</c:v>
                </c:pt>
                <c:pt idx="15">
                  <c:v>5.29</c:v>
                </c:pt>
                <c:pt idx="16">
                  <c:v>4.7300000000000004</c:v>
                </c:pt>
                <c:pt idx="17">
                  <c:v>3.69</c:v>
                </c:pt>
                <c:pt idx="18">
                  <c:v>2.62</c:v>
                </c:pt>
                <c:pt idx="19">
                  <c:v>1.57</c:v>
                </c:pt>
                <c:pt idx="20">
                  <c:v>0.64</c:v>
                </c:pt>
                <c:pt idx="21">
                  <c:v>-0.11</c:v>
                </c:pt>
                <c:pt idx="22">
                  <c:v>-0.7</c:v>
                </c:pt>
                <c:pt idx="23">
                  <c:v>-1.1299999999999999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051-4BBA-A675-E160AEF2C35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370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tickLblSkip val="3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6E8EB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370"/>
                </a:solidFill>
                <a:latin typeface="Yu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328"/>
              </a:solidFill>
              <a:latin typeface="Yu Gothic"/>
              <a:cs typeface="Yu Gothic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1"/>
                </a:solidFill>
                <a:latin typeface="Yu Gothic"/>
              </a:defRPr>
            </a:pPr>
            <a:r>
              <a:rPr lang="ja-JP" altLang="en-US" sz="1300" b="0" i="0" u="none" strike="noStrike">
                <a:solidFill>
                  <a:srgbClr val="1B2A41"/>
                </a:solidFill>
                <a:latin typeface="Yu Gothic"/>
              </a:rPr>
              <a:t>テスト</a:t>
            </a:r>
            <a:r>
              <a:rPr lang="en-US" sz="1300" b="0" i="0" u="none" strike="noStrike">
                <a:solidFill>
                  <a:srgbClr val="1B2A41"/>
                </a:solidFill>
                <a:latin typeface="Yu Gothic"/>
              </a:rPr>
              <a:t>MAE（℃）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Naive（直前値）</c:v>
                </c:pt>
              </c:strCache>
            </c:strRef>
          </c:tx>
          <c:spPr>
            <a:solidFill>
              <a:srgbClr val="6B6A66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5C6370"/>
                    </a:solidFill>
                    <a:latin typeface="Yu Gothic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ETTh1</c:v>
                </c:pt>
                <c:pt idx="1">
                  <c:v>ETTh2</c:v>
                </c:pt>
                <c:pt idx="2">
                  <c:v>ETTm1</c:v>
                </c:pt>
                <c:pt idx="3">
                  <c:v>ETTm2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0.43507496117854599</c:v>
                </c:pt>
                <c:pt idx="1">
                  <c:v>0.90979888385746177</c:v>
                </c:pt>
                <c:pt idx="2">
                  <c:v>0.21213234643547371</c:v>
                </c:pt>
                <c:pt idx="3">
                  <c:v>0.23063406659596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20-4926-BEAE-CB795D3CCF2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LightGBM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5C6370"/>
                    </a:solidFill>
                    <a:latin typeface="Yu Gothic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ETTh1</c:v>
                </c:pt>
                <c:pt idx="1">
                  <c:v>ETTh2</c:v>
                </c:pt>
                <c:pt idx="2">
                  <c:v>ETTm1</c:v>
                </c:pt>
                <c:pt idx="3">
                  <c:v>ETTm2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0.42937278959297298</c:v>
                </c:pt>
                <c:pt idx="1">
                  <c:v>0.51551741473801593</c:v>
                </c:pt>
                <c:pt idx="2">
                  <c:v>0.21270278774194151</c:v>
                </c:pt>
                <c:pt idx="3">
                  <c:v>0.18050175762960671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020-4926-BEAE-CB795D3CCF2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370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6E8E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370"/>
                </a:solidFill>
                <a:latin typeface="Yu Gothic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F2328"/>
              </a:solidFill>
              <a:latin typeface="Yu Gothic"/>
              <a:cs typeface="Yu Gothic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1"/>
                </a:solidFill>
                <a:latin typeface="Yu Gothic"/>
              </a:defRPr>
            </a:pPr>
            <a:r>
              <a:rPr lang="en-US" sz="1300" b="0" i="0" u="none" strike="noStrike">
                <a:solidFill>
                  <a:srgbClr val="1B2A41"/>
                </a:solidFill>
                <a:latin typeface="Yu Gothic"/>
              </a:rPr>
              <a:t>ETTh1：</a:t>
            </a:r>
            <a:r>
              <a:rPr lang="ja-JP" altLang="en-US" sz="1300" b="0" i="0" u="none" strike="noStrike">
                <a:solidFill>
                  <a:srgbClr val="1B2A41"/>
                </a:solidFill>
                <a:latin typeface="Yu Gothic"/>
              </a:rPr>
              <a:t>重要度（</a:t>
            </a:r>
            <a:r>
              <a:rPr lang="en-US" sz="1300" b="0" i="0" u="none" strike="noStrike">
                <a:solidFill>
                  <a:srgbClr val="1B2A41"/>
                </a:solidFill>
                <a:latin typeface="Yu Gothic"/>
              </a:rPr>
              <a:t>gain</a:t>
            </a:r>
            <a:r>
              <a:rPr lang="ja-JP" altLang="en-US" sz="1300" b="0" i="0" u="none" strike="noStrike">
                <a:solidFill>
                  <a:srgbClr val="1B2A41"/>
                </a:solidFill>
                <a:latin typeface="Yu Gothic"/>
              </a:rPr>
              <a:t>の割合、上位</a:t>
            </a:r>
            <a:r>
              <a:rPr lang="en-US" altLang="ja-JP" sz="1300" b="0" i="0" u="none" strike="noStrike">
                <a:solidFill>
                  <a:srgbClr val="1B2A41"/>
                </a:solidFill>
                <a:latin typeface="Yu Gothic"/>
              </a:rPr>
              <a:t>8</a:t>
            </a:r>
            <a:r>
              <a:rPr lang="ja-JP" altLang="en-US" sz="1300" b="0" i="0" u="none" strike="noStrike">
                <a:solidFill>
                  <a:srgbClr val="1B2A41"/>
                </a:solidFill>
                <a:latin typeface="Yu Gothic"/>
              </a:rPr>
              <a:t>）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gain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5C6370"/>
                    </a:solidFill>
                    <a:latin typeface="Yu Gothic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LUFL_lag1</c:v>
                </c:pt>
                <c:pt idx="1">
                  <c:v>OT_roll_mean168</c:v>
                </c:pt>
                <c:pt idx="2">
                  <c:v>OT_lag3</c:v>
                </c:pt>
                <c:pt idx="3">
                  <c:v>OT_lag2</c:v>
                </c:pt>
                <c:pt idx="4">
                  <c:v>HUFL_lag1</c:v>
                </c:pt>
                <c:pt idx="5">
                  <c:v>MUFL_lag1</c:v>
                </c:pt>
                <c:pt idx="6">
                  <c:v>OT_lag1</c:v>
                </c:pt>
                <c:pt idx="7">
                  <c:v>hour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2.9</c:v>
                </c:pt>
                <c:pt idx="1">
                  <c:v>3</c:v>
                </c:pt>
                <c:pt idx="2">
                  <c:v>3.3</c:v>
                </c:pt>
                <c:pt idx="3">
                  <c:v>4.4000000000000004</c:v>
                </c:pt>
                <c:pt idx="4">
                  <c:v>4.8</c:v>
                </c:pt>
                <c:pt idx="5">
                  <c:v>7.1</c:v>
                </c:pt>
                <c:pt idx="6">
                  <c:v>11.2</c:v>
                </c:pt>
                <c:pt idx="7">
                  <c:v>38.700000000000003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7D-48D3-88DA-FB1DF94DDC6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370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ja-JP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2A41"/>
                </a:solidFill>
                <a:latin typeface="Yu Gothic"/>
              </a:defRPr>
            </a:pPr>
            <a:r>
              <a:rPr lang="en-US" sz="1300" b="0" i="0" u="none" strike="noStrike">
                <a:solidFill>
                  <a:srgbClr val="1B2A41"/>
                </a:solidFill>
                <a:latin typeface="Yu Gothic"/>
              </a:rPr>
              <a:t>ETTh2：</a:t>
            </a:r>
            <a:r>
              <a:rPr lang="ja-JP" altLang="en-US" sz="1300" b="0" i="0" u="none" strike="noStrike">
                <a:solidFill>
                  <a:srgbClr val="1B2A41"/>
                </a:solidFill>
                <a:latin typeface="Yu Gothic"/>
              </a:rPr>
              <a:t>重要度（</a:t>
            </a:r>
            <a:r>
              <a:rPr lang="en-US" sz="1300" b="0" i="0" u="none" strike="noStrike">
                <a:solidFill>
                  <a:srgbClr val="1B2A41"/>
                </a:solidFill>
                <a:latin typeface="Yu Gothic"/>
              </a:rPr>
              <a:t>gain</a:t>
            </a:r>
            <a:r>
              <a:rPr lang="ja-JP" altLang="en-US" sz="1300" b="0" i="0" u="none" strike="noStrike">
                <a:solidFill>
                  <a:srgbClr val="1B2A41"/>
                </a:solidFill>
                <a:latin typeface="Yu Gothic"/>
              </a:rPr>
              <a:t>の割合、上位</a:t>
            </a:r>
            <a:r>
              <a:rPr lang="en-US" altLang="ja-JP" sz="1300" b="0" i="0" u="none" strike="noStrike">
                <a:solidFill>
                  <a:srgbClr val="1B2A41"/>
                </a:solidFill>
                <a:latin typeface="Yu Gothic"/>
              </a:rPr>
              <a:t>8</a:t>
            </a:r>
            <a:r>
              <a:rPr lang="ja-JP" altLang="en-US" sz="1300" b="0" i="0" u="none" strike="noStrike">
                <a:solidFill>
                  <a:srgbClr val="1B2A41"/>
                </a:solidFill>
                <a:latin typeface="Yu Gothic"/>
              </a:rPr>
              <a:t>）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gain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5C6370"/>
                    </a:solidFill>
                    <a:latin typeface="Yu Gothic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OT_lag24</c:v>
                </c:pt>
                <c:pt idx="1">
                  <c:v>OT_roll_mean24</c:v>
                </c:pt>
                <c:pt idx="2">
                  <c:v>OT_lag12</c:v>
                </c:pt>
                <c:pt idx="3">
                  <c:v>OT_lag3</c:v>
                </c:pt>
                <c:pt idx="4">
                  <c:v>OT_lag1</c:v>
                </c:pt>
                <c:pt idx="5">
                  <c:v>OT_lag6</c:v>
                </c:pt>
                <c:pt idx="6">
                  <c:v>OT_roll_std24</c:v>
                </c:pt>
                <c:pt idx="7">
                  <c:v>hour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1.9</c:v>
                </c:pt>
                <c:pt idx="1">
                  <c:v>3.5</c:v>
                </c:pt>
                <c:pt idx="2">
                  <c:v>3.9</c:v>
                </c:pt>
                <c:pt idx="3">
                  <c:v>4.2</c:v>
                </c:pt>
                <c:pt idx="4">
                  <c:v>6.2</c:v>
                </c:pt>
                <c:pt idx="5">
                  <c:v>6.4</c:v>
                </c:pt>
                <c:pt idx="6">
                  <c:v>7.6</c:v>
                </c:pt>
                <c:pt idx="7">
                  <c:v>52.1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09C-474C-902B-4289E7D6E12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C6370"/>
                </a:solidFill>
                <a:latin typeface="Yu Gothic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60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316118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400" b="1" dirty="0">
                <a:solidFill>
                  <a:srgbClr val="E059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PoC報告</a:t>
            </a:r>
            <a:endParaRPr lang="ja-JP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9202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ja-JP" alt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変圧器オイル温度の短期予測PoC</a:t>
            </a:r>
            <a:endParaRPr lang="ja-JP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017520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ja-JP" altLang="en-US" sz="1600" dirty="0">
                <a:solidFill>
                  <a:srgbClr val="C9D6E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ETTデータセットを用いた、LightGBMによる予測</a:t>
            </a:r>
            <a:endParaRPr lang="ja-JP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51206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300" dirty="0">
                <a:solidFill>
                  <a:srgbClr val="C9D6E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2026年10月</a:t>
            </a:r>
            <a:endParaRPr lang="ja-JP" sz="1300" dirty="0"/>
          </a:p>
        </p:txBody>
      </p:sp>
      <p:sp>
        <p:nvSpPr>
          <p:cNvPr id="6" name="Shape 4"/>
          <p:cNvSpPr/>
          <p:nvPr/>
        </p:nvSpPr>
        <p:spPr>
          <a:xfrm>
            <a:off x="8001000" y="1737360"/>
            <a:ext cx="3474720" cy="3108960"/>
          </a:xfrm>
          <a:prstGeom prst="roundRect">
            <a:avLst>
              <a:gd name="adj" fmla="val 2941"/>
            </a:avLst>
          </a:prstGeom>
          <a:solidFill>
            <a:srgbClr val="24375A"/>
          </a:solidFill>
          <a:ln w="12700">
            <a:solidFill>
              <a:srgbClr val="24375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8183880" y="2194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6000" b="1" dirty="0">
                <a:solidFill>
                  <a:srgbClr val="E059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−43.3%</a:t>
            </a:r>
            <a:endParaRPr lang="ja-JP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8183880" y="342900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ETTh2の1時間先予測誤差（MAE）</a:t>
            </a:r>
            <a:endParaRPr lang="ja-JP" sz="1300" dirty="0"/>
          </a:p>
          <a:p>
            <a:pPr marL="0" indent="0" algn="ctr">
              <a:buNone/>
            </a:pPr>
            <a:r>
              <a:rPr lang="ja-JP" alt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Naive（直前値）比</a:t>
            </a:r>
            <a:endParaRPr lang="ja-JP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100" b="1" dirty="0">
                <a:solidFill>
                  <a:srgbClr val="E059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検証設定と前提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ja-JP" altLang="en-US" sz="21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1ステップ先のOT予測を、時系列順の学習・検証・テスト分割で評価した</a:t>
            </a:r>
            <a:endParaRPr lang="ja-JP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 オイル温度予測 PoC報告</a:t>
            </a:r>
            <a:endParaRPr lang="ja-JP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altLang="ja-JP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</a:rPr>
              <a:t>2</a:t>
            </a:r>
            <a:endParaRPr lang="ja-JP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0023036"/>
              </p:ext>
            </p:extLst>
          </p:nvPr>
        </p:nvGraphicFramePr>
        <p:xfrm>
          <a:off x="548640" y="1828800"/>
          <a:ext cx="6675120" cy="3438144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37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項目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設定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予測対象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OT（変圧器のオイル温度）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予測ホライズン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1ステップ先（ETTh：1時間先、ETTm：15分先）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入力に使う情報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時刻 t−1 </a:t>
                      </a:r>
                      <a:r>
                        <a:rPr lang="en-US" sz="1200" dirty="0" err="1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以前のセンサー値のみ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データ分割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時系列順に 学習60% / 検証10% / テスト30%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評価指標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MAE・RMSE（℃）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ベースライン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Naive：直前のOTをそのまま予測値とする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モデル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データセットごとに個別のLightGBM（検証データでearly stopping）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589520" y="1828800"/>
            <a:ext cx="4050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2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データ分割（4データ共通の期間）</a:t>
            </a:r>
            <a:endParaRPr lang="ja-JP" sz="1200" dirty="0"/>
          </a:p>
        </p:txBody>
      </p:sp>
      <p:sp>
        <p:nvSpPr>
          <p:cNvPr id="8" name="Shape 5"/>
          <p:cNvSpPr/>
          <p:nvPr/>
        </p:nvSpPr>
        <p:spPr>
          <a:xfrm>
            <a:off x="7589520" y="2240280"/>
            <a:ext cx="2403043" cy="411480"/>
          </a:xfrm>
          <a:prstGeom prst="rect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 txBox="1"/>
          <p:nvPr/>
        </p:nvSpPr>
        <p:spPr>
          <a:xfrm>
            <a:off x="7589520" y="2240280"/>
            <a:ext cx="24030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</a:t>
            </a:r>
            <a:r>
              <a:rPr lang="en-US" altLang="ja-JP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(60%)</a:t>
            </a:r>
            <a:endParaRPr lang="ja-JP" sz="1100" dirty="0"/>
          </a:p>
        </p:txBody>
      </p:sp>
      <p:sp>
        <p:nvSpPr>
          <p:cNvPr id="10" name="Shape 7"/>
          <p:cNvSpPr/>
          <p:nvPr/>
        </p:nvSpPr>
        <p:spPr>
          <a:xfrm>
            <a:off x="10019995" y="2240280"/>
            <a:ext cx="377647" cy="411480"/>
          </a:xfrm>
          <a:prstGeom prst="rect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10019995" y="2240280"/>
            <a:ext cx="377647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</a:t>
            </a:r>
            <a:r>
              <a:rPr lang="en-US" altLang="ja-JP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(10</a:t>
            </a:r>
            <a:r>
              <a:rPr lang="en-US" altLang="ja-JP" sz="1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%)</a:t>
            </a:r>
            <a:endParaRPr lang="ja-JP" sz="1000" dirty="0"/>
          </a:p>
        </p:txBody>
      </p:sp>
      <p:sp>
        <p:nvSpPr>
          <p:cNvPr id="12" name="Shape 9"/>
          <p:cNvSpPr/>
          <p:nvPr/>
        </p:nvSpPr>
        <p:spPr>
          <a:xfrm>
            <a:off x="10425074" y="2240280"/>
            <a:ext cx="1187806" cy="411480"/>
          </a:xfrm>
          <a:prstGeom prst="rect">
            <a:avLst/>
          </a:prstGeom>
          <a:solidFill>
            <a:srgbClr val="E0592A"/>
          </a:solidFill>
          <a:ln w="12700">
            <a:solidFill>
              <a:srgbClr val="E059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10425074" y="2240280"/>
            <a:ext cx="118780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</a:t>
            </a:r>
            <a:r>
              <a:rPr lang="en-US" altLang="ja-JP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(30%)</a:t>
            </a:r>
            <a:endParaRPr lang="ja-JP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2788920"/>
            <a:ext cx="4050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ja-JP" altLang="en-US" sz="11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学習：2016/07/01 〜 2017/09/09</a:t>
            </a:r>
            <a:endParaRPr lang="ja-JP" sz="1100" dirty="0"/>
          </a:p>
          <a:p>
            <a:pPr marL="0" indent="0">
              <a:buNone/>
            </a:pPr>
            <a:r>
              <a:rPr lang="ja-JP" altLang="en-US" sz="11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検証：2017/09/09 〜 2017/11/21</a:t>
            </a:r>
            <a:endParaRPr lang="ja-JP" sz="1100" dirty="0"/>
          </a:p>
          <a:p>
            <a:pPr marL="0" indent="0">
              <a:buNone/>
            </a:pPr>
            <a:r>
              <a:rPr lang="ja-JP" altLang="en-US" sz="11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テスト：2017/11/21 〜 2018/06/26</a:t>
            </a:r>
            <a:endParaRPr lang="ja-JP" sz="1100" dirty="0"/>
          </a:p>
        </p:txBody>
      </p:sp>
      <p:sp>
        <p:nvSpPr>
          <p:cNvPr id="15" name="Shape 12"/>
          <p:cNvSpPr/>
          <p:nvPr/>
        </p:nvSpPr>
        <p:spPr>
          <a:xfrm>
            <a:off x="7589520" y="3886200"/>
            <a:ext cx="4050792" cy="2286000"/>
          </a:xfrm>
          <a:prstGeom prst="roundRect">
            <a:avLst>
              <a:gd name="adj" fmla="val 32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7818120" y="4069080"/>
            <a:ext cx="3593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4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置いた仮定</a:t>
            </a:r>
            <a:endParaRPr lang="ja-JP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818120" y="4526280"/>
            <a:ext cx="359359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1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課題文の「将来予測」に沿い、時刻 t の予測には t−1 以前の値のみ利用できるとした</a:t>
            </a:r>
            <a:endParaRPr lang="ja-JP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altLang="ja-JP" sz="11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r>
              <a:rPr lang="ja-JP" altLang="en-US" sz="11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データは別々の変圧器とみなし、モデルを個別に学習した</a:t>
            </a:r>
            <a:endParaRPr lang="ja-JP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1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テストデータは最終評価にのみ使用し、調整は検証データで行った</a:t>
            </a:r>
            <a:endParaRPr lang="ja-JP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100" b="1" dirty="0">
                <a:solidFill>
                  <a:srgbClr val="E059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EDA ①　分布シフト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ja-JP" altLang="en-US" sz="21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学習期間とテスト期間でOTの水準が大きく異なる。値を直接予測するモデルは、学習範囲外への外挿に弱い</a:t>
            </a:r>
            <a:endParaRPr lang="ja-JP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 オイル温度予測 PoC報告</a:t>
            </a:r>
            <a:endParaRPr lang="ja-JP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altLang="ja-JP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</a:rPr>
              <a:t>3</a:t>
            </a:r>
            <a:endParaRPr lang="ja-JP" sz="900" dirty="0"/>
          </a:p>
        </p:txBody>
      </p:sp>
      <p:pic>
        <p:nvPicPr>
          <p:cNvPr id="6" name="Image 0" descr="C:/Users/Toya Kumpei/Downloads/PoC_ETT/assignment-main/outputs/figures/eda/eda_ot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7498080" cy="34366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366760" y="1828800"/>
            <a:ext cx="3276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3400" b="1" dirty="0">
                <a:solidFill>
                  <a:srgbClr val="E059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17.3℃ → 6.4℃</a:t>
            </a:r>
            <a:endParaRPr lang="ja-JP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8366760" y="2542032"/>
            <a:ext cx="3276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ja-JP" altLang="en-US" sz="11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ETTh1の平均OT（学習期間 → テスト期間）</a:t>
            </a:r>
            <a:endParaRPr lang="ja-JP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8366760" y="3108960"/>
            <a:ext cx="32762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3400" b="1" dirty="0">
                <a:solidFill>
                  <a:srgbClr val="E059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29.2℃ → 21.5℃</a:t>
            </a:r>
            <a:endParaRPr lang="ja-JP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8366760" y="3822192"/>
            <a:ext cx="3276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ja-JP" altLang="en-US" sz="11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ETTh2の平均OT（学習期間 → テスト期間）</a:t>
            </a:r>
            <a:endParaRPr lang="ja-JP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366760" y="4434840"/>
            <a:ext cx="327629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2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テスト期間は冬を含み、学習期間の大半より低温</a:t>
            </a:r>
            <a:endParaRPr lang="ja-JP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2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決定木は学習データの範囲外の値を出力できない</a:t>
            </a:r>
            <a:endParaRPr lang="ja-JP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2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 予測対象を「変化量」にする判断につながった</a:t>
            </a:r>
            <a:endParaRPr lang="ja-JP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100" b="1" dirty="0">
                <a:solidFill>
                  <a:srgbClr val="E059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EDA ②　自己相関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ja-JP" altLang="en-US" sz="21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OTは直前値との相関が0.99以上で、Naiveが強いベースラインになる。一方、変化量（ΔOT）の自己相関は変圧器によって−0.01〜0.68と大きく異なる</a:t>
            </a:r>
            <a:endParaRPr lang="ja-JP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 オイル温度予測 PoC報告</a:t>
            </a:r>
            <a:endParaRPr lang="ja-JP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altLang="ja-JP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</a:rPr>
              <a:t>4</a:t>
            </a:r>
            <a:endParaRPr lang="ja-JP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694944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7863840" y="1828800"/>
            <a:ext cx="3779215" cy="3840480"/>
          </a:xfrm>
          <a:prstGeom prst="roundRect">
            <a:avLst>
              <a:gd name="adj" fmla="val 193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8092440" y="201168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4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読み取れること</a:t>
            </a:r>
            <a:endParaRPr lang="ja-JP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92440" y="2468880"/>
            <a:ext cx="3322015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3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ΔOTの自己相関が高い＝変化に「勢い」があり、次の変化を予測できる余地がある</a:t>
            </a:r>
            <a:endParaRPr lang="ja-JP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3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ETTh2（0.68）・ETTm2（0.44）は改善の余地が大きいと予想</a:t>
            </a:r>
            <a:endParaRPr lang="ja-JP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3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ETTh1（−0.01）・ETTm1（0.08）の変化はほぼランダムで、Naiveを超えるのは難しいと予想</a:t>
            </a:r>
            <a:endParaRPr lang="ja-JP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100" b="1" dirty="0">
                <a:solidFill>
                  <a:srgbClr val="E059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EDA ③　日周期と負荷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ja-JP" altLang="en-US" sz="21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ETTh2は1日の中で約9℃変動し、時刻が変化の強い手がかりになる。負荷とOTの相関は|r|≤0.5と中程度以下</a:t>
            </a:r>
            <a:endParaRPr lang="ja-JP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 オイル温度予測 PoC報告</a:t>
            </a:r>
            <a:endParaRPr lang="ja-JP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5912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altLang="ja-JP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</a:rPr>
              <a:t>5</a:t>
            </a:r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48640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pic>
        <p:nvPicPr>
          <p:cNvPr id="7" name="Image 0" descr="C:/Users/Toya Kumpei/Downloads/PoC_ETT/assignment-main/outputs/figures/eda/eda_load_cor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828800"/>
            <a:ext cx="5330952" cy="202576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309360" y="4023360"/>
            <a:ext cx="53309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2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ETTh2は朝7時に最低、15時に最高（振れ幅 約9℃）。ETTh1は約2.4℃</a:t>
            </a:r>
            <a:endParaRPr lang="ja-JP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2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負荷単体ではOTを説明しきれない → 時刻やOTのラグを組み合わせる</a:t>
            </a:r>
            <a:endParaRPr lang="ja-JP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0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負荷の略称：HUFL/HULL＝高圧の有効/無効負荷、MUFL/MULL＝中圧、LUFL/LULL＝低圧</a:t>
            </a:r>
            <a:endParaRPr lang="ja-JP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100" b="1" dirty="0">
                <a:solidFill>
                  <a:srgbClr val="E059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アプローチ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ja-JP" altLang="en-US" sz="21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EDAを踏まえ、「直前値＋変化量」をLightGBMで予測する構成を採用した</a:t>
            </a:r>
            <a:endParaRPr lang="ja-JP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 オイル温度予測 PoC報告</a:t>
            </a:r>
            <a:endParaRPr lang="ja-JP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73152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1. 特徴量を作る</a:t>
            </a:r>
            <a:endParaRPr lang="ja-JP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3317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ja-JP" altLang="en-US" sz="1200" dirty="0">
                <a:solidFill>
                  <a:srgbClr val="C9D6E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OTのラグ・移動統計・時刻・負荷</a:t>
            </a:r>
            <a:endParaRPr lang="ja-JP" sz="1200" dirty="0"/>
          </a:p>
          <a:p>
            <a:pPr marL="0" indent="0">
              <a:buNone/>
            </a:pPr>
            <a:r>
              <a:rPr lang="ja-JP" altLang="en-US" sz="1200" dirty="0">
                <a:solidFill>
                  <a:srgbClr val="C9D6E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（すべて t−1 以前）</a:t>
            </a:r>
            <a:endParaRPr lang="ja-JP" sz="1200" dirty="0"/>
          </a:p>
        </p:txBody>
      </p:sp>
      <p:sp>
        <p:nvSpPr>
          <p:cNvPr id="9" name="Shape 7"/>
          <p:cNvSpPr/>
          <p:nvPr/>
        </p:nvSpPr>
        <p:spPr>
          <a:xfrm>
            <a:off x="3053029" y="2377440"/>
            <a:ext cx="274320" cy="329184"/>
          </a:xfrm>
          <a:prstGeom prst="rightArrow">
            <a:avLst/>
          </a:prstGeom>
          <a:solidFill>
            <a:srgbClr val="E0592A"/>
          </a:solidFill>
          <a:ln w="12700">
            <a:solidFill>
              <a:srgbClr val="E059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454298" y="1828800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 txBox="1"/>
          <p:nvPr/>
        </p:nvSpPr>
        <p:spPr>
          <a:xfrm>
            <a:off x="363717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2. 変化量を学習</a:t>
            </a:r>
            <a:endParaRPr lang="ja-JP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37178" y="23317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ja-JP" altLang="en-US" sz="1200" dirty="0">
                <a:solidFill>
                  <a:srgbClr val="C9D6E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目的変数</a:t>
            </a:r>
            <a:endParaRPr lang="ja-JP" sz="1200" dirty="0"/>
          </a:p>
          <a:p>
            <a:pPr marL="0" indent="0">
              <a:buNone/>
            </a:pPr>
            <a:r>
              <a:rPr lang="ja-JP" altLang="en-US" sz="1200" dirty="0">
                <a:solidFill>
                  <a:srgbClr val="C9D6E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ΔOT = OT(t) − OT(t−1)</a:t>
            </a:r>
            <a:endParaRPr lang="ja-JP" sz="1200" dirty="0"/>
          </a:p>
        </p:txBody>
      </p:sp>
      <p:sp>
        <p:nvSpPr>
          <p:cNvPr id="13" name="Shape 11"/>
          <p:cNvSpPr/>
          <p:nvPr/>
        </p:nvSpPr>
        <p:spPr>
          <a:xfrm>
            <a:off x="5958688" y="2377440"/>
            <a:ext cx="274320" cy="329184"/>
          </a:xfrm>
          <a:prstGeom prst="rightArrow">
            <a:avLst/>
          </a:prstGeom>
          <a:solidFill>
            <a:srgbClr val="E0592A"/>
          </a:solidFill>
          <a:ln w="12700">
            <a:solidFill>
              <a:srgbClr val="E059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6359957" y="1828800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 txBox="1"/>
          <p:nvPr/>
        </p:nvSpPr>
        <p:spPr>
          <a:xfrm>
            <a:off x="6542837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3. 予測値に戻す</a:t>
            </a:r>
            <a:endParaRPr lang="ja-JP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42837" y="23317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ja-JP" altLang="en-US" sz="1200" dirty="0">
                <a:solidFill>
                  <a:srgbClr val="C9D6E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予測OT(t) =</a:t>
            </a:r>
            <a:endParaRPr lang="ja-JP" sz="1200" dirty="0"/>
          </a:p>
          <a:p>
            <a:pPr marL="0" indent="0">
              <a:buNone/>
            </a:pPr>
            <a:r>
              <a:rPr lang="ja-JP" altLang="en-US" sz="1200" dirty="0">
                <a:solidFill>
                  <a:srgbClr val="C9D6E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OT(t−1) ＋ 予測ΔOT</a:t>
            </a:r>
            <a:endParaRPr lang="ja-JP" sz="1200" dirty="0"/>
          </a:p>
        </p:txBody>
      </p:sp>
      <p:sp>
        <p:nvSpPr>
          <p:cNvPr id="17" name="Shape 15"/>
          <p:cNvSpPr/>
          <p:nvPr/>
        </p:nvSpPr>
        <p:spPr>
          <a:xfrm>
            <a:off x="8864346" y="2377440"/>
            <a:ext cx="274320" cy="329184"/>
          </a:xfrm>
          <a:prstGeom prst="rightArrow">
            <a:avLst/>
          </a:prstGeom>
          <a:solidFill>
            <a:srgbClr val="E0592A"/>
          </a:solidFill>
          <a:ln w="12700">
            <a:solidFill>
              <a:srgbClr val="E059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9265615" y="1828800"/>
            <a:ext cx="2377440" cy="1417320"/>
          </a:xfrm>
          <a:prstGeom prst="roundRect">
            <a:avLst>
              <a:gd name="adj" fmla="val 5161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 txBox="1"/>
          <p:nvPr/>
        </p:nvSpPr>
        <p:spPr>
          <a:xfrm>
            <a:off x="9448495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4. Naiveと比較</a:t>
            </a:r>
            <a:endParaRPr lang="ja-JP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448495" y="233172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ja-JP" altLang="en-US" sz="1200" dirty="0">
                <a:solidFill>
                  <a:srgbClr val="C9D6E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同じテスト期間で</a:t>
            </a:r>
            <a:endParaRPr lang="ja-JP" sz="1200" dirty="0"/>
          </a:p>
          <a:p>
            <a:pPr marL="0" indent="0">
              <a:buNone/>
            </a:pPr>
            <a:r>
              <a:rPr lang="ja-JP" altLang="en-US" sz="1200" dirty="0">
                <a:solidFill>
                  <a:srgbClr val="C9D6E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MAE・RMSEを比較</a:t>
            </a:r>
            <a:endParaRPr lang="ja-JP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3515258" cy="2286000"/>
          </a:xfrm>
          <a:prstGeom prst="roundRect">
            <a:avLst>
              <a:gd name="adj" fmla="val 32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 txBox="1"/>
          <p:nvPr/>
        </p:nvSpPr>
        <p:spPr>
          <a:xfrm>
            <a:off x="777240" y="379476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4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なぜ変化量を予測するか</a:t>
            </a:r>
            <a:endParaRPr lang="ja-JP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251960"/>
            <a:ext cx="305805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3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分布シフトがあっても、変化量は常に0付近に分布し外挿が起きにくい</a:t>
            </a:r>
            <a:endParaRPr lang="ja-JP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3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モデルが何も学べなくてもNaive相当になり、大きく負けない</a:t>
            </a:r>
            <a:endParaRPr lang="ja-JP" sz="1350" dirty="0"/>
          </a:p>
        </p:txBody>
      </p:sp>
      <p:sp>
        <p:nvSpPr>
          <p:cNvPr id="24" name="Shape 22"/>
          <p:cNvSpPr/>
          <p:nvPr/>
        </p:nvSpPr>
        <p:spPr>
          <a:xfrm>
            <a:off x="4338218" y="3611880"/>
            <a:ext cx="3515258" cy="2286000"/>
          </a:xfrm>
          <a:prstGeom prst="roundRect">
            <a:avLst>
              <a:gd name="adj" fmla="val 32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 txBox="1"/>
          <p:nvPr/>
        </p:nvSpPr>
        <p:spPr>
          <a:xfrm>
            <a:off x="4566818" y="379476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4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なぜLightGBMか</a:t>
            </a:r>
            <a:endParaRPr lang="ja-JP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4566818" y="4251960"/>
            <a:ext cx="305805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3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1万〜4万行の表形式データで高精度・高速に学習できる</a:t>
            </a:r>
            <a:endParaRPr lang="ja-JP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3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時刻×負荷のような非線形な関係を扱え、重要度で解釈もできる</a:t>
            </a:r>
            <a:endParaRPr lang="en-US" altLang="ja-JP" sz="1350" dirty="0">
              <a:solidFill>
                <a:srgbClr val="1F2328"/>
              </a:solidFill>
              <a:latin typeface="Yu Gothic" pitchFamily="34" charset="0"/>
              <a:ea typeface="Yu Gothic" pitchFamily="34" charset="-122"/>
              <a:cs typeface="Yu Gothic" pitchFamily="34" charset="-120"/>
            </a:endParaRPr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3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深層学習は</a:t>
            </a:r>
            <a:r>
              <a:rPr lang="en-US" altLang="ja-JP" sz="13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PoC</a:t>
            </a:r>
            <a:r>
              <a:rPr lang="ja-JP" altLang="en-US" sz="13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としては時間がかかりすぎる</a:t>
            </a:r>
            <a:endParaRPr lang="en-US" altLang="ja-JP" sz="1350" dirty="0">
              <a:solidFill>
                <a:srgbClr val="1F2328"/>
              </a:solidFill>
              <a:latin typeface="Yu Gothic" pitchFamily="34" charset="0"/>
              <a:ea typeface="Yu Gothic" pitchFamily="34" charset="-122"/>
              <a:cs typeface="Yu Gothic" pitchFamily="34" charset="-120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8127797" y="3611880"/>
            <a:ext cx="3515258" cy="2286000"/>
          </a:xfrm>
          <a:prstGeom prst="roundRect">
            <a:avLst>
              <a:gd name="adj" fmla="val 32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 txBox="1"/>
          <p:nvPr/>
        </p:nvSpPr>
        <p:spPr>
          <a:xfrm>
            <a:off x="8356397" y="379476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4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なぜデータごとに別モデルか</a:t>
            </a:r>
            <a:endParaRPr lang="ja-JP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356397" y="4251960"/>
            <a:ext cx="305805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3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変圧器ごとに日周変動の大きさや負荷との相関が異なる（EDA③）</a:t>
            </a:r>
            <a:endParaRPr lang="ja-JP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3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ETThとETTmは時間間隔が異なり、ラグの意味が変わる</a:t>
            </a:r>
            <a:endParaRPr lang="ja-JP" sz="1350" dirty="0"/>
          </a:p>
        </p:txBody>
      </p:sp>
      <p:sp>
        <p:nvSpPr>
          <p:cNvPr id="31" name="Text 3">
            <a:extLst>
              <a:ext uri="{FF2B5EF4-FFF2-40B4-BE49-F238E27FC236}">
                <a16:creationId xmlns:a16="http://schemas.microsoft.com/office/drawing/2014/main" id="{C0D5B1CF-F6A4-ED7F-AC5B-CDA62AA3FD65}"/>
              </a:ext>
            </a:extLst>
          </p:cNvPr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altLang="ja-JP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</a:rPr>
              <a:t>6</a:t>
            </a:r>
            <a:endParaRPr lang="ja-JP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100" b="1" dirty="0">
                <a:solidFill>
                  <a:srgbClr val="E059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特徴量設計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ja-JP" altLang="en-US" sz="21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リークを防ぐため、すべての特徴量を時刻 t−1 以前の情報だけで構成した</a:t>
            </a:r>
            <a:endParaRPr lang="ja-JP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 オイル温度予測 PoC報告</a:t>
            </a:r>
            <a:endParaRPr lang="ja-JP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altLang="ja-JP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</a:rPr>
              <a:t>7</a:t>
            </a:r>
            <a:endParaRPr lang="ja-JP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25146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418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グループ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特徴量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ETTh（1ステップ＝1時間）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ETTm（1ステップ＝15分）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狙い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カレンダー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hour, dayofweek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○（＋minute）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日周期・週周期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OTのラグ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OT(t−k)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k = 1, 2, 3, 6, 12, 24, 48, 168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k = 1, 2, 3, 4, 8, 24, 48, 96, 192, 672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直近の値・1日前・1週間前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移動統計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平均・標準偏差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窓 24, 168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窓 96, 672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最近の水準・変動の大きさ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負荷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6種の負荷(t−1)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○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発熱の要因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617720"/>
            <a:ext cx="3515258" cy="1554480"/>
          </a:xfrm>
          <a:prstGeom prst="roundRect">
            <a:avLst>
              <a:gd name="adj" fmla="val 470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777240" y="480060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4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実時間をそろえる</a:t>
            </a:r>
            <a:endParaRPr lang="ja-JP" sz="1400" dirty="0"/>
          </a:p>
        </p:txBody>
      </p:sp>
      <p:sp>
        <p:nvSpPr>
          <p:cNvPr id="6" name="Text 6"/>
          <p:cNvSpPr txBox="1"/>
          <p:nvPr/>
        </p:nvSpPr>
        <p:spPr>
          <a:xfrm>
            <a:off x="777240" y="525780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ja-JP" altLang="en-US" sz="12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ラグは「ステップ数」で定義。ETThの24とETTmの96は、どちらも「1日前」になる</a:t>
            </a:r>
            <a:endParaRPr lang="ja-JP" sz="1200" dirty="0"/>
          </a:p>
        </p:txBody>
      </p:sp>
      <p:sp>
        <p:nvSpPr>
          <p:cNvPr id="10" name="Shape 7"/>
          <p:cNvSpPr/>
          <p:nvPr/>
        </p:nvSpPr>
        <p:spPr>
          <a:xfrm>
            <a:off x="4338218" y="4617720"/>
            <a:ext cx="3515258" cy="1554480"/>
          </a:xfrm>
          <a:prstGeom prst="roundRect">
            <a:avLst>
              <a:gd name="adj" fmla="val 470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4566818" y="480060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4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現在値の混入を防ぐ</a:t>
            </a:r>
            <a:endParaRPr lang="ja-JP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66818" y="525780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ja-JP" altLang="en-US" sz="12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移動統計はOTを1ステップずらしてから計算し、予測対象の値が入らないようにした</a:t>
            </a:r>
            <a:endParaRPr lang="ja-JP" sz="1200" dirty="0"/>
          </a:p>
        </p:txBody>
      </p:sp>
      <p:sp>
        <p:nvSpPr>
          <p:cNvPr id="13" name="Shape 10"/>
          <p:cNvSpPr/>
          <p:nvPr/>
        </p:nvSpPr>
        <p:spPr>
          <a:xfrm>
            <a:off x="8127797" y="4617720"/>
            <a:ext cx="3515258" cy="1554480"/>
          </a:xfrm>
          <a:prstGeom prst="roundRect">
            <a:avLst>
              <a:gd name="adj" fmla="val 470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8356397" y="480060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4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monthは不採用</a:t>
            </a:r>
            <a:endParaRPr lang="ja-JP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356397" y="5257800"/>
            <a:ext cx="305805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ja-JP" altLang="en-US" sz="12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学習期間が約14か月で各月をほぼ1回しか見ていないため。検証でも効果は誤差の範囲だった（p.12）</a:t>
            </a:r>
            <a:endParaRPr lang="ja-JP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100" b="1" dirty="0">
                <a:solidFill>
                  <a:srgbClr val="E059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ja-JP" altLang="en-US" sz="21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テスト期間で、LightGBMはETTh2で43%、ETTm2で22%誤差を削減した。ETTh1・ETTm1はNaiveと同等だった</a:t>
            </a:r>
            <a:endParaRPr lang="ja-JP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 オイル温度予測 PoC報告</a:t>
            </a:r>
            <a:endParaRPr lang="ja-JP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altLang="ja-JP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</a:rPr>
              <a:t>8</a:t>
            </a:r>
            <a:endParaRPr lang="ja-JP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6035040" cy="4389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828800"/>
          <a:ext cx="4782312" cy="2286000"/>
        </p:xfrm>
        <a:graphic>
          <a:graphicData uri="http://schemas.openxmlformats.org/drawingml/2006/table">
            <a:tbl>
              <a:tblPr/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0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23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132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50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データ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Naive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LightGBM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MAE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改善率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RMSE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Naive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RMSE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LightGBM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ETTh1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0.435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0.429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−1.3%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0.628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0.617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ETTh2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0.910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0.516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E0592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−43.3%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1.278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0.734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ETTm1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0.212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0.213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+0.3%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0.313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0.311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ETTm2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0.231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0.181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E0592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−21.7%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0.354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0.254</a:t>
                      </a:r>
                      <a:endParaRPr lang="en-US" sz="10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858000" y="4434840"/>
            <a:ext cx="478231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2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改善の大きさは、EDA②のΔOTの自己相関の順番と一致した</a:t>
            </a:r>
            <a:endParaRPr lang="ja-JP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2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ETTm1はMAEで0.3%劣るが、RMSEでは0.8%改善しており、大きな外れは減っている</a:t>
            </a:r>
            <a:endParaRPr lang="ja-JP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2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検証データでも同じ傾向で、特定の期間に偶然合わせた結果ではない</a:t>
            </a:r>
            <a:endParaRPr lang="ja-JP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100" b="1" dirty="0">
                <a:solidFill>
                  <a:srgbClr val="E059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予測例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ja-JP" altLang="en-US" sz="21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ETTh2では、日中の上昇と夜間の下降という日周期の動きを追従できている</a:t>
            </a:r>
            <a:endParaRPr lang="ja-JP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 オイル温度予測 PoC報告</a:t>
            </a:r>
            <a:endParaRPr lang="ja-JP" sz="900" dirty="0"/>
          </a:p>
        </p:txBody>
      </p:sp>
      <p:pic>
        <p:nvPicPr>
          <p:cNvPr id="6" name="Image 0" descr="C:/Users/Toya Kumpei/Downloads/PoC_ETT/assignment-main/outputs/figures/etth2_pr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83080"/>
            <a:ext cx="11094415" cy="36981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618117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2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テスト期間の最後の7日間（2018/6/20〜6/26）。青が実測値、オレンジがLightGBMの予測値</a:t>
            </a:r>
            <a:endParaRPr lang="ja-JP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2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ピーク付近では予測が1ステップ遅れる傾向があり、急な変化の先読みは限定的</a:t>
            </a:r>
            <a:endParaRPr lang="ja-JP" sz="125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D908F854-CA49-6099-228E-7553E4F2CA93}"/>
              </a:ext>
            </a:extLst>
          </p:cNvPr>
          <p:cNvSpPr txBox="1"/>
          <p:nvPr/>
        </p:nvSpPr>
        <p:spPr>
          <a:xfrm>
            <a:off x="10734881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altLang="ja-JP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</a:rPr>
              <a:t>9</a:t>
            </a:r>
            <a:endParaRPr lang="ja-JP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100" b="1" dirty="0">
                <a:solidFill>
                  <a:srgbClr val="E059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特徴量の重要度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ja-JP" altLang="en-US" sz="21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変化量の予測では時刻（hour）の寄与が39〜52%と最も大きく、日周期のパターンが予測の中心になっている</a:t>
            </a:r>
            <a:endParaRPr lang="ja-JP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 オイル温度予測 PoC報告</a:t>
            </a:r>
            <a:endParaRPr lang="ja-JP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ja-JP" altLang="en-US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r>
              <a:rPr lang="en-US" altLang="ja-JP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</a:t>
            </a:r>
            <a:endParaRPr lang="ja-JP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6217920" y="1783080"/>
          <a:ext cx="539496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48640" y="55321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2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「この時間帯は上がる／下がる」という日周期が、変化量を予測する主な手がかりになっている</a:t>
            </a:r>
            <a:endParaRPr lang="ja-JP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2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負荷の寄与はETTh1のMUFL（7%）などに限られ、EDA③の相関の弱さと一致する。外気温など外部要因の追加が改善候補</a:t>
            </a:r>
            <a:endParaRPr lang="ja-JP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100" b="1" dirty="0">
                <a:solidFill>
                  <a:srgbClr val="E059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工夫と設計上の意思決定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ja-JP" altLang="en-US" sz="21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最大の改善は「値の予測」から「変化量の予測」への切り替えによるもの。以降の調整は検証データで比較して決めた</a:t>
            </a:r>
            <a:endParaRPr lang="ja-JP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 オイル温度予測 PoC報告</a:t>
            </a:r>
            <a:endParaRPr lang="ja-JP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ja-JP" altLang="en-US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r>
              <a:rPr lang="en-US" altLang="ja-JP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ja-JP" sz="9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2834640"/>
        </p:xfrm>
        <a:graphic>
          <a:graphicData uri="http://schemas.openxmlformats.org/drawingml/2006/table">
            <a:tbl>
              <a:tblPr/>
              <a:tblGrid>
                <a:gridCol w="4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90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#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試した設定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判断に使ったデータ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結果（MAE）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判断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OTの値を直接予測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テスト（初回評価）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4データ中3つでNaiveに負けた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例：ETTh1 0.649 vs Naive 0.435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不採用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変化量を予測（learning_rate 0.03）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検証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4データすべてでNaiveに勝った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例：ETTh2 0.476 vs Naive 0.836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0592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採用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＋ month 特徴量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検証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差は最大1%程度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例：ETTh2 0.476 → 0.471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不採用（効果が誤差の範囲で、過学習のリスクがある）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learning_rate 0.03 → 0.01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検証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ETTh2 0.476 → 0.471、ETTm2 0.167 → 0.163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ETTh1・ETTm1は同等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0592A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採用（最終）</a:t>
                      </a:r>
                      <a:endParaRPr lang="en-US" sz="115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892040"/>
            <a:ext cx="3515258" cy="1280160"/>
          </a:xfrm>
          <a:prstGeom prst="roundRect">
            <a:avLst>
              <a:gd name="adj" fmla="val 571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777240" y="507492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4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リークの防止</a:t>
            </a:r>
            <a:endParaRPr lang="ja-JP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532120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ja-JP" altLang="en-US" sz="11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時系列順に分割し、シャッフルなし。特徴量はすべて t−1 以前</a:t>
            </a:r>
            <a:endParaRPr lang="ja-JP" sz="1150" dirty="0"/>
          </a:p>
        </p:txBody>
      </p:sp>
      <p:sp>
        <p:nvSpPr>
          <p:cNvPr id="10" name="Shape 7"/>
          <p:cNvSpPr/>
          <p:nvPr/>
        </p:nvSpPr>
        <p:spPr>
          <a:xfrm>
            <a:off x="4338218" y="4892040"/>
            <a:ext cx="3515258" cy="1280160"/>
          </a:xfrm>
          <a:prstGeom prst="roundRect">
            <a:avLst>
              <a:gd name="adj" fmla="val 571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 txBox="1"/>
          <p:nvPr/>
        </p:nvSpPr>
        <p:spPr>
          <a:xfrm>
            <a:off x="4566818" y="507492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4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テストは最後に1回</a:t>
            </a:r>
            <a:endParaRPr lang="ja-JP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66818" y="5532120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ja-JP" altLang="en-US" sz="11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#1のみ初回評価でテストを使った。以降の調整はすべて検証データで判断した</a:t>
            </a:r>
            <a:endParaRPr lang="ja-JP" sz="1150" dirty="0"/>
          </a:p>
        </p:txBody>
      </p:sp>
      <p:sp>
        <p:nvSpPr>
          <p:cNvPr id="6" name="Shape 10"/>
          <p:cNvSpPr/>
          <p:nvPr/>
        </p:nvSpPr>
        <p:spPr>
          <a:xfrm>
            <a:off x="8127797" y="4892040"/>
            <a:ext cx="3515258" cy="1280160"/>
          </a:xfrm>
          <a:prstGeom prst="roundRect">
            <a:avLst>
              <a:gd name="adj" fmla="val 571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 txBox="1"/>
          <p:nvPr/>
        </p:nvSpPr>
        <p:spPr>
          <a:xfrm>
            <a:off x="8356397" y="5074920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4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再現性</a:t>
            </a:r>
            <a:endParaRPr lang="ja-JP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356397" y="5532120"/>
            <a:ext cx="305805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ja-JP" altLang="en-US" sz="11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設定をconfig.pyに集約し、乱数シードを固定。3つのスクリプトで再現できる</a:t>
            </a:r>
            <a:endParaRPr lang="ja-JP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100" b="1" dirty="0">
                <a:solidFill>
                  <a:srgbClr val="E059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運用・保全への示唆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ja-JP" altLang="en-US" sz="21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短期予測の精度は「予測との乖離による異常検知」に活用できる見込み。保全計画に必要なリードタイムの確保は、まだ検証できていない</a:t>
            </a:r>
            <a:endParaRPr lang="ja-JP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 オイル温度予測 PoC報告</a:t>
            </a:r>
            <a:endParaRPr lang="ja-JP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ja-JP" altLang="en-US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r>
              <a:rPr lang="en-US" altLang="ja-JP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ja-JP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5410048" cy="3063240"/>
          </a:xfrm>
          <a:prstGeom prst="roundRect">
            <a:avLst>
              <a:gd name="adj" fmla="val 238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777240" y="2011680"/>
            <a:ext cx="495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4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現時点で期待できる価値</a:t>
            </a:r>
            <a:endParaRPr lang="ja-JP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68880"/>
            <a:ext cx="495284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3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予測値と実測値の乖離（残差）を監視し、負荷や時刻を考慮した異常検知ができる。固定の閾値監視より早い段階で異常に気づける可能性がある。それにより、故障を防ぐための対策に講じることもできる</a:t>
            </a:r>
            <a:endParaRPr lang="ja-JP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3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例：通常の予測誤差（ETTh2のMAE 約0.5℃）を大きく超える乖離をアラート条件にする</a:t>
            </a:r>
            <a:endParaRPr lang="ja-JP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3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日周変動が大きい変圧器（ETTh2型）ほど効果が大きい</a:t>
            </a:r>
            <a:endParaRPr lang="ja-JP" sz="1350" dirty="0"/>
          </a:p>
        </p:txBody>
      </p:sp>
      <p:sp>
        <p:nvSpPr>
          <p:cNvPr id="9" name="Shape 7"/>
          <p:cNvSpPr/>
          <p:nvPr/>
        </p:nvSpPr>
        <p:spPr>
          <a:xfrm>
            <a:off x="6233008" y="1828800"/>
            <a:ext cx="5410048" cy="3063240"/>
          </a:xfrm>
          <a:prstGeom prst="roundRect">
            <a:avLst>
              <a:gd name="adj" fmla="val 238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6461608" y="2011680"/>
            <a:ext cx="495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400" b="1" dirty="0">
                <a:solidFill>
                  <a:srgbClr val="E0592A"/>
                </a:solidFill>
                <a:latin typeface="Yu Gothic" pitchFamily="34" charset="0"/>
                <a:ea typeface="Yu Gothic" pitchFamily="34" charset="-122"/>
              </a:rPr>
              <a:t>課題点</a:t>
            </a:r>
            <a:endParaRPr lang="ja-JP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468880"/>
            <a:ext cx="4952848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3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予測は1時間先・15分先のみ。保全作業の計画に必要な数時間〜数日先の予測精度は未検証</a:t>
            </a:r>
            <a:endParaRPr lang="ja-JP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3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変動の小さい変圧器（ETTh1型）ではNaiveと同等で、予測モデルの導入する費用対効果は低いとみられる</a:t>
            </a:r>
            <a:endParaRPr lang="ja-JP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35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異常検知への有効性は、実際の異常事例のデータで確認する必要がある</a:t>
            </a:r>
            <a:endParaRPr lang="ja-JP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5166360"/>
            <a:ext cx="11094415" cy="1005840"/>
          </a:xfrm>
          <a:prstGeom prst="roundRect">
            <a:avLst>
              <a:gd name="adj" fmla="val 7273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 txBox="1"/>
          <p:nvPr/>
        </p:nvSpPr>
        <p:spPr>
          <a:xfrm>
            <a:off x="822960" y="516636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500" b="1" dirty="0">
                <a:solidFill>
                  <a:srgbClr val="E059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プロダクトへの提案　</a:t>
            </a:r>
            <a:r>
              <a:rPr lang="ja-JP" alt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「24時間先の予測」と「残差を使った異常検知」を、実際の異常事例のデータとあわせて検証する</a:t>
            </a:r>
            <a:br>
              <a:rPr lang="en-US" altLang="ja-JP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</a:br>
            <a:r>
              <a:rPr lang="en-US" altLang="ja-JP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		</a:t>
            </a:r>
            <a:r>
              <a:rPr lang="ja-JP" alt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アプリケーションを制作し、</a:t>
            </a:r>
            <a:r>
              <a:rPr lang="en-US" altLang="ja-JP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UI</a:t>
            </a:r>
            <a:r>
              <a:rPr lang="ja-JP" altLang="en-US" sz="15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などを誰にでも見やすく、使いやすくする。</a:t>
            </a:r>
            <a:endParaRPr lang="ja-JP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100" b="1" dirty="0">
                <a:solidFill>
                  <a:srgbClr val="E059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限界と今後の改善方針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ja-JP" altLang="en-US" sz="21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現状は1ステップ先・1つの評価期間での検証にとどまる。予測ホライズンの延長と評価の頑健化を次のステップとする</a:t>
            </a:r>
            <a:endParaRPr lang="ja-JP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 オイル温度予測 PoC報告</a:t>
            </a:r>
            <a:endParaRPr lang="ja-JP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ja-JP" altLang="en-US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r>
              <a:rPr lang="en-US" altLang="ja-JP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ja-JP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 txBox="1"/>
          <p:nvPr/>
        </p:nvSpPr>
        <p:spPr>
          <a:xfrm>
            <a:off x="777240" y="2011680"/>
            <a:ext cx="495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4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現時点の限界</a:t>
            </a:r>
            <a:endParaRPr lang="ja-JP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68880"/>
            <a:ext cx="4952848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4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予測ホライズンが1ステップのみ</a:t>
            </a:r>
            <a:endParaRPr lang="ja-JP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4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評価期間が1通り（冬〜初夏の約7か月）で、乱数シードも1つ</a:t>
            </a:r>
            <a:endParaRPr lang="ja-JP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4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ETTh1・ETTm1ではNaiveとの差がほとんどない</a:t>
            </a:r>
            <a:endParaRPr lang="ja-JP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4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外気温などの外部要因を使っていない（負荷では説明できない変動が残る）</a:t>
            </a:r>
            <a:endParaRPr lang="ja-JP" sz="1400" dirty="0"/>
          </a:p>
          <a:p>
            <a:pPr>
              <a:spcAft>
                <a:spcPts val="600"/>
              </a:spcAft>
              <a:buSzPct val="100000"/>
            </a:pPr>
            <a:endParaRPr lang="en-US" altLang="ja-JP" sz="1400" dirty="0">
              <a:solidFill>
                <a:srgbClr val="1F2328"/>
              </a:solidFill>
              <a:latin typeface="Yu Gothic" pitchFamily="34" charset="0"/>
              <a:ea typeface="Yu Gothic" pitchFamily="34" charset="-122"/>
              <a:cs typeface="Yu Gothic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233008" y="18288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 txBox="1"/>
          <p:nvPr/>
        </p:nvSpPr>
        <p:spPr>
          <a:xfrm>
            <a:off x="6461608" y="2011680"/>
            <a:ext cx="495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400" b="1" dirty="0">
                <a:solidFill>
                  <a:srgbClr val="E059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今後の改善方針（優先順）</a:t>
            </a:r>
            <a:endParaRPr lang="ja-JP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61608" y="2468880"/>
            <a:ext cx="4952848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4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多ホライズン予測（24時間先など）：保全判断のリードタイムを確保する</a:t>
            </a:r>
            <a:endParaRPr lang="ja-JP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4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ローリング評価：複数の期間・季節で精度が安定するか確認する</a:t>
            </a:r>
            <a:endParaRPr lang="ja-JP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4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外気温データの追加（出典を明記）：負荷で説明できない変動を減らす</a:t>
            </a:r>
            <a:endParaRPr lang="ja-JP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4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予測区間（分位点回帰）：アラート閾値の設計に使う</a:t>
            </a:r>
            <a:endParaRPr lang="ja-JP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ja-JP" altLang="en-US" sz="1400" dirty="0">
                <a:solidFill>
                  <a:srgbClr val="1F232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残差を使った異常検知のプロトタイプ作成</a:t>
            </a:r>
            <a:endParaRPr lang="ja-JP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100" b="1" dirty="0">
                <a:solidFill>
                  <a:srgbClr val="E0592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Appendix</a:t>
            </a:r>
            <a:endParaRPr lang="ja-JP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ja-JP" altLang="en-US" sz="2100" b="1" dirty="0">
                <a:solidFill>
                  <a:srgbClr val="1B2A4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実装の構成と再現手順</a:t>
            </a:r>
            <a:endParaRPr lang="ja-JP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ETT オイル温度予測 PoC報告</a:t>
            </a:r>
            <a:endParaRPr lang="ja-JP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ja-JP" altLang="en-US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r>
              <a:rPr lang="en-US" altLang="ja-JP" sz="9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ja-JP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583680" cy="301752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ファイル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役割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src/config.py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パス・分割比率・ラグ・LightGBMのパラメータなど、設定を集約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src/preprocess.py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特徴量の作成と時系列順の分割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src/train.py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変化量の学習（early stopping）・モデル保存・検証スコアの表示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src/evaluate.py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テストデータでの評価（LightGBM vs Naive）・予測グラフの作成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src/eda.py / report_figures.py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EDAと報告用の図の作成</a:t>
                      </a:r>
                      <a:endParaRPr lang="en-US" sz="12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06640" y="1828800"/>
            <a:ext cx="4236415" cy="2468880"/>
          </a:xfrm>
          <a:prstGeom prst="roundRect">
            <a:avLst>
              <a:gd name="adj" fmla="val 2963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 txBox="1"/>
          <p:nvPr/>
        </p:nvSpPr>
        <p:spPr>
          <a:xfrm>
            <a:off x="7635240" y="2057400"/>
            <a:ext cx="377921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ja-JP" alt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sync</a:t>
            </a:r>
            <a:endParaRPr lang="ja-JP" sz="1250" dirty="0"/>
          </a:p>
          <a:p>
            <a:pPr marL="0" indent="0">
              <a:spcAft>
                <a:spcPts val="800"/>
              </a:spcAft>
              <a:buNone/>
            </a:pPr>
            <a:r>
              <a:rPr lang="ja-JP" alt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run python src/preprocess.py</a:t>
            </a:r>
            <a:endParaRPr lang="ja-JP" sz="1250" dirty="0"/>
          </a:p>
          <a:p>
            <a:pPr marL="0" indent="0">
              <a:spcAft>
                <a:spcPts val="800"/>
              </a:spcAft>
              <a:buNone/>
            </a:pPr>
            <a:r>
              <a:rPr lang="ja-JP" alt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run python src/train.py</a:t>
            </a:r>
            <a:endParaRPr lang="ja-JP" sz="1250" dirty="0"/>
          </a:p>
          <a:p>
            <a:pPr marL="0" indent="0">
              <a:spcAft>
                <a:spcPts val="800"/>
              </a:spcAft>
              <a:buNone/>
            </a:pPr>
            <a:r>
              <a:rPr lang="ja-JP" alt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run python src/evaluate.py</a:t>
            </a:r>
            <a:endParaRPr lang="ja-JP" sz="1250" dirty="0"/>
          </a:p>
          <a:p>
            <a:pPr marL="0" indent="0">
              <a:spcAft>
                <a:spcPts val="800"/>
              </a:spcAft>
              <a:buNone/>
            </a:pPr>
            <a:r>
              <a:rPr lang="ja-JP" alt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run python src/eda.py</a:t>
            </a:r>
            <a:endParaRPr lang="en-US" altLang="ja-JP" sz="1250" dirty="0">
              <a:solidFill>
                <a:srgbClr val="FFFFFF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>
              <a:spcAft>
                <a:spcPts val="800"/>
              </a:spcAft>
            </a:pPr>
            <a:r>
              <a:rPr lang="ja-JP" altLang="en-US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 run python src/</a:t>
            </a:r>
            <a:r>
              <a:rPr lang="en-US" altLang="ja-JP" sz="12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report_figures.py</a:t>
            </a:r>
          </a:p>
          <a:p>
            <a:pPr marL="0" indent="0">
              <a:spcAft>
                <a:spcPts val="800"/>
              </a:spcAft>
              <a:buNone/>
            </a:pPr>
            <a:endParaRPr lang="en-US" altLang="ja-JP" sz="1250" dirty="0">
              <a:solidFill>
                <a:srgbClr val="FFFFFF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>
              <a:spcAft>
                <a:spcPts val="800"/>
              </a:spcAft>
              <a:buNone/>
            </a:pPr>
            <a:endParaRPr lang="ja-JP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212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ja-JP" altLang="en-US" sz="1100" dirty="0">
                <a:solidFill>
                  <a:srgbClr val="5C63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データ出典：ETDataset（zhouhaoyi/ETDataset, GitHub）</a:t>
            </a:r>
            <a:endParaRPr lang="ja-JP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416</TotalTime>
  <Words>2172</Words>
  <Application>Microsoft Office PowerPoint</Application>
  <PresentationFormat>ワイド画面</PresentationFormat>
  <Paragraphs>288</Paragraphs>
  <Slides>14</Slides>
  <Notes>14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8" baseType="lpstr">
      <vt:lpstr>Yu Gothic</vt:lpstr>
      <vt:lpstr>Arial</vt:lpstr>
      <vt:lpstr>Courier New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変圧器オイル温度の短期予測PoC</dc:title>
  <dc:subject>PptxGenJS Presentation</dc:subject>
  <dc:creator>PptxGenJS</dc:creator>
  <cp:lastModifiedBy>Toya Kumpei</cp:lastModifiedBy>
  <cp:revision>2</cp:revision>
  <dcterms:created xsi:type="dcterms:W3CDTF">2026-10-01T14:00:34Z</dcterms:created>
  <dcterms:modified xsi:type="dcterms:W3CDTF">2026-10-02T01:21:14Z</dcterms:modified>
</cp:coreProperties>
</file>