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Yu Gothic"/>
              </a:rPr>
              <a:t>1ステップ前との自己相関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ETTh1</c:v>
                  </c:pt>
                  <c:pt idx="1">
                    <c:v>ETTh2</c:v>
                  </c:pt>
                  <c:pt idx="2">
                    <c:v>ETTm1</c:v>
                  </c:pt>
                  <c:pt idx="3">
                    <c:v>ETTm2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0.994</c:v>
                </c:pt>
                <c:pt idx="1">
                  <c:v>0.994</c:v>
                </c:pt>
                <c:pt idx="2">
                  <c:v>0.999</c:v>
                </c:pt>
                <c:pt idx="3">
                  <c:v>0.999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ΔOT（1ステップの変化量）</c:v>
                </c:pt>
              </c:strCache>
            </c:strRef>
          </c:tx>
          <c:spPr>
            <a:solidFill>
              <a:srgbClr val="E0592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ETTh1</c:v>
                  </c:pt>
                  <c:pt idx="1">
                    <c:v>ETTh2</c:v>
                  </c:pt>
                  <c:pt idx="2">
                    <c:v>ETTm1</c:v>
                  </c:pt>
                  <c:pt idx="3">
                    <c:v>ETTm2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-0.012</c:v>
                </c:pt>
                <c:pt idx="1">
                  <c:v>0.679</c:v>
                </c:pt>
                <c:pt idx="2">
                  <c:v>0.079</c:v>
                </c:pt>
                <c:pt idx="3">
                  <c:v>0.441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5C6370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-0.2"/>
        </c:scaling>
        <c:delete val="0"/>
        <c:axPos val="l"/>
        <c:majorGridlines>
          <c:spPr>
            <a:ln w="9525" cap="flat">
              <a:solidFill>
                <a:srgbClr val="E6E8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Yu Gothic"/>
              </a:rPr>
              <a:t>時刻別のOT（日平均との差、℃）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ETTh1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-0.45</c:v>
                </c:pt>
                <c:pt idx="1">
                  <c:v>-0.55</c:v>
                </c:pt>
                <c:pt idx="2">
                  <c:v>-0.61</c:v>
                </c:pt>
                <c:pt idx="3">
                  <c:v>-0.73</c:v>
                </c:pt>
                <c:pt idx="4">
                  <c:v>-0.84</c:v>
                </c:pt>
                <c:pt idx="5">
                  <c:v>-0.95</c:v>
                </c:pt>
                <c:pt idx="6">
                  <c:v>-1</c:v>
                </c:pt>
                <c:pt idx="7">
                  <c:v>-0.85</c:v>
                </c:pt>
                <c:pt idx="8">
                  <c:v>-0.58</c:v>
                </c:pt>
                <c:pt idx="9">
                  <c:v>-0.5</c:v>
                </c:pt>
                <c:pt idx="10">
                  <c:v>-0.16</c:v>
                </c:pt>
                <c:pt idx="11">
                  <c:v>0.1</c:v>
                </c:pt>
                <c:pt idx="12">
                  <c:v>0.25</c:v>
                </c:pt>
                <c:pt idx="13">
                  <c:v>0.69</c:v>
                </c:pt>
                <c:pt idx="14">
                  <c:v>1.29</c:v>
                </c:pt>
                <c:pt idx="15">
                  <c:v>1.32</c:v>
                </c:pt>
                <c:pt idx="16">
                  <c:v>1.39</c:v>
                </c:pt>
                <c:pt idx="17">
                  <c:v>1.27</c:v>
                </c:pt>
                <c:pt idx="18">
                  <c:v>0.88</c:v>
                </c:pt>
                <c:pt idx="19">
                  <c:v>0.45</c:v>
                </c:pt>
                <c:pt idx="20">
                  <c:v>0.14</c:v>
                </c:pt>
                <c:pt idx="21">
                  <c:v>-0.04</c:v>
                </c:pt>
                <c:pt idx="22">
                  <c:v>-0.17</c:v>
                </c:pt>
                <c:pt idx="23">
                  <c:v>-0.36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ETTh2</c:v>
                </c:pt>
              </c:strCache>
            </c:strRef>
          </c:tx>
          <c:spPr>
            <a:solidFill>
              <a:srgbClr val="E0592A"/>
            </a:solidFill>
            <a:ln w="25400" cap="flat">
              <a:solidFill>
                <a:srgbClr val="E059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592A"/>
              </a:solidFill>
              <a:ln w="9525" cap="flat">
                <a:solidFill>
                  <a:srgbClr val="E059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-1.54</c:v>
                </c:pt>
                <c:pt idx="1">
                  <c:v>-1.96</c:v>
                </c:pt>
                <c:pt idx="2">
                  <c:v>-2.41</c:v>
                </c:pt>
                <c:pt idx="3">
                  <c:v>-2.84</c:v>
                </c:pt>
                <c:pt idx="4">
                  <c:v>-3.27</c:v>
                </c:pt>
                <c:pt idx="5">
                  <c:v>-3.67</c:v>
                </c:pt>
                <c:pt idx="6">
                  <c:v>-3.99</c:v>
                </c:pt>
                <c:pt idx="7">
                  <c:v>-4.08</c:v>
                </c:pt>
                <c:pt idx="8">
                  <c:v>-3.56</c:v>
                </c:pt>
                <c:pt idx="9">
                  <c:v>-2.27</c:v>
                </c:pt>
                <c:pt idx="10">
                  <c:v>-0.48</c:v>
                </c:pt>
                <c:pt idx="11">
                  <c:v>1.49</c:v>
                </c:pt>
                <c:pt idx="12">
                  <c:v>2.97</c:v>
                </c:pt>
                <c:pt idx="13">
                  <c:v>3.98</c:v>
                </c:pt>
                <c:pt idx="14">
                  <c:v>5.05</c:v>
                </c:pt>
                <c:pt idx="15">
                  <c:v>5.29</c:v>
                </c:pt>
                <c:pt idx="16">
                  <c:v>4.73</c:v>
                </c:pt>
                <c:pt idx="17">
                  <c:v>3.69</c:v>
                </c:pt>
                <c:pt idx="18">
                  <c:v>2.62</c:v>
                </c:pt>
                <c:pt idx="19">
                  <c:v>1.57</c:v>
                </c:pt>
                <c:pt idx="20">
                  <c:v>0.64</c:v>
                </c:pt>
                <c:pt idx="21">
                  <c:v>-0.11</c:v>
                </c:pt>
                <c:pt idx="22">
                  <c:v>-0.7</c:v>
                </c:pt>
                <c:pt idx="23">
                  <c:v>-1.13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C6370"/>
                  </a:solidFill>
                  <a:latin typeface="Yu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8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Yu Gothic"/>
              </a:rPr>
              <a:t>テストMAE（℃）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Naive（直前値）</c:v>
                </c:pt>
              </c:strCache>
            </c:strRef>
          </c:tx>
          <c:spPr>
            <a:solidFill>
              <a:srgbClr val="6B6A6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ETTh1</c:v>
                  </c:pt>
                  <c:pt idx="1">
                    <c:v>ETTh2</c:v>
                  </c:pt>
                  <c:pt idx="2">
                    <c:v>ETTm1</c:v>
                  </c:pt>
                  <c:pt idx="3">
                    <c:v>ETTm2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0.435074961178546</c:v>
                </c:pt>
                <c:pt idx="1">
                  <c:v>0.9097988838574618</c:v>
                </c:pt>
                <c:pt idx="2">
                  <c:v>0.2121323464354737</c:v>
                </c:pt>
                <c:pt idx="3">
                  <c:v>0.23063406659596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ETTh1</c:v>
                  </c:pt>
                  <c:pt idx="1">
                    <c:v>ETTh2</c:v>
                  </c:pt>
                  <c:pt idx="2">
                    <c:v>ETTm1</c:v>
                  </c:pt>
                  <c:pt idx="3">
                    <c:v>ETTm2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0.429372789592973</c:v>
                </c:pt>
                <c:pt idx="1">
                  <c:v>0.5155174147380159</c:v>
                </c:pt>
                <c:pt idx="2">
                  <c:v>0.2127027877419415</c:v>
                </c:pt>
                <c:pt idx="3">
                  <c:v>0.1805017576296067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5C6370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8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328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Yu Gothic"/>
              </a:rPr>
              <a:t>ETTh1：重要度（gainの割合、上位8）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LUFL_lag1</c:v>
                  </c:pt>
                  <c:pt idx="1">
                    <c:v>OT_roll_mean168</c:v>
                  </c:pt>
                  <c:pt idx="2">
                    <c:v>OT_lag3</c:v>
                  </c:pt>
                  <c:pt idx="3">
                    <c:v>OT_lag2</c:v>
                  </c:pt>
                  <c:pt idx="4">
                    <c:v>HUFL_lag1</c:v>
                  </c:pt>
                  <c:pt idx="5">
                    <c:v>MUFL_lag1</c:v>
                  </c:pt>
                  <c:pt idx="6">
                    <c:v>OT_lag1</c:v>
                  </c:pt>
                  <c:pt idx="7">
                    <c:v>hour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</c:v>
                </c:pt>
                <c:pt idx="1">
                  <c:v>3</c:v>
                </c:pt>
                <c:pt idx="2">
                  <c:v>3.3</c:v>
                </c:pt>
                <c:pt idx="3">
                  <c:v>4.4</c:v>
                </c:pt>
                <c:pt idx="4">
                  <c:v>4.8</c:v>
                </c:pt>
                <c:pt idx="5">
                  <c:v>7.1</c:v>
                </c:pt>
                <c:pt idx="6">
                  <c:v>11.2</c:v>
                </c:pt>
                <c:pt idx="7">
                  <c:v>38.7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C6370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1"/>
                </a:solidFill>
                <a:latin typeface="Yu Gothic"/>
              </a:defRPr>
            </a:pPr>
            <a:r>
              <a:rPr sz="1300" b="0" i="0" u="none" strike="noStrike">
                <a:solidFill>
                  <a:srgbClr val="1B2A41"/>
                </a:solidFill>
                <a:latin typeface="Yu Gothic"/>
              </a:rPr>
              <a:t>ETTh2：重要度（gainの割合、上位8）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370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OT_lag24</c:v>
                  </c:pt>
                  <c:pt idx="1">
                    <c:v>OT_roll_mean24</c:v>
                  </c:pt>
                  <c:pt idx="2">
                    <c:v>OT_lag12</c:v>
                  </c:pt>
                  <c:pt idx="3">
                    <c:v>OT_lag3</c:v>
                  </c:pt>
                  <c:pt idx="4">
                    <c:v>OT_lag1</c:v>
                  </c:pt>
                  <c:pt idx="5">
                    <c:v>OT_lag6</c:v>
                  </c:pt>
                  <c:pt idx="6">
                    <c:v>OT_roll_std24</c:v>
                  </c:pt>
                  <c:pt idx="7">
                    <c:v>hour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1.9</c:v>
                </c:pt>
                <c:pt idx="1">
                  <c:v>3.5</c:v>
                </c:pt>
                <c:pt idx="2">
                  <c:v>3.9</c:v>
                </c:pt>
                <c:pt idx="3">
                  <c:v>4.2</c:v>
                </c:pt>
                <c:pt idx="4">
                  <c:v>6.2</c:v>
                </c:pt>
                <c:pt idx="5">
                  <c:v>6.4</c:v>
                </c:pt>
                <c:pt idx="6">
                  <c:v>7.6</c:v>
                </c:pt>
                <c:pt idx="7">
                  <c:v>52.1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C6370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370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PoC報告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変圧器オイル温度の短期予測PoC</a:t>
            </a:r>
            <a:endParaRPr lang="ja-JP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ETTデータセットを用いた、LightGBMによる1ステップ先予測の検証</a:t>
            </a:r>
            <a:endParaRPr lang="ja-JP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</a:t>
            </a:r>
            <a:endParaRPr lang="ja-JP" sz="1300" dirty="0"/>
          </a:p>
        </p:txBody>
      </p:sp>
      <p:sp>
        <p:nvSpPr>
          <p:cNvPr id="6" name="Shape 4"/>
          <p:cNvSpPr/>
          <p:nvPr/>
        </p:nvSpPr>
        <p:spPr>
          <a:xfrm>
            <a:off x="8001000" y="173736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24375A"/>
          </a:solidFill>
          <a:ln w="12700">
            <a:solidFill>
              <a:srgbClr val="243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60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−43.3%</a:t>
            </a:r>
            <a:endParaRPr lang="ja-JP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ETTh2の1時間先予測誤差（MAE）</a:t>
            </a:r>
            <a:endParaRPr lang="ja-JP" sz="1300" dirty="0"/>
          </a:p>
          <a:p>
            <a:pPr algn="ctr" indent="0" marL="0">
              <a:buNone/>
            </a:pPr>
            <a:r>
              <a:rPr lang="ja-JP" alt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Naive（直前値）比</a:t>
            </a:r>
            <a:endParaRPr lang="ja-JP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変動の大きい変圧器では、1ステップ先のOT予測誤差をNaive比で最大43%削減できた。保全判断への活用には、予測ホライズンの延長が次の検証課題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ETTh2（1時間先）</a:t>
            </a:r>
            <a:endParaRPr lang="ja-JP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−43.3%</a:t>
            </a:r>
            <a:endParaRPr lang="ja-JP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0.516℃（Naive 0.910℃）</a:t>
            </a:r>
            <a:endParaRPr lang="ja-JP" sz="1050" dirty="0"/>
          </a:p>
        </p:txBody>
      </p:sp>
      <p:sp>
        <p:nvSpPr>
          <p:cNvPr id="10" name="Shape 8"/>
          <p:cNvSpPr/>
          <p:nvPr/>
        </p:nvSpPr>
        <p:spPr>
          <a:xfrm>
            <a:off x="3390824" y="18288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9424" y="196596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ETTm2（15分先）</a:t>
            </a:r>
            <a:endParaRPr lang="ja-JP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28600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−21.7%</a:t>
            </a:r>
            <a:endParaRPr lang="ja-JP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619424" y="29718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0.181℃（Naive 0.231℃）</a:t>
            </a:r>
            <a:endParaRPr lang="ja-JP" sz="105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196596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ETTh1（1時間先）</a:t>
            </a:r>
            <a:endParaRPr lang="ja-JP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28600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6B6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−1.3%</a:t>
            </a:r>
            <a:endParaRPr lang="ja-JP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9718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0.429℃（Naive 0.435℃）</a:t>
            </a:r>
            <a:endParaRPr lang="ja-JP" sz="1050" dirty="0"/>
          </a:p>
        </p:txBody>
      </p:sp>
      <p:sp>
        <p:nvSpPr>
          <p:cNvPr id="18" name="Shape 16"/>
          <p:cNvSpPr/>
          <p:nvPr/>
        </p:nvSpPr>
        <p:spPr>
          <a:xfrm>
            <a:off x="9075191" y="1828800"/>
            <a:ext cx="2567864" cy="1600200"/>
          </a:xfrm>
          <a:prstGeom prst="roundRect">
            <a:avLst>
              <a:gd name="adj" fmla="val 457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3791" y="196596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ETTm1（15分先）</a:t>
            </a:r>
            <a:endParaRPr lang="ja-JP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03791" y="228600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6B6A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+0.3%</a:t>
            </a:r>
            <a:endParaRPr lang="ja-JP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971800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 0.213℃（Naive 0.212℃）</a:t>
            </a:r>
            <a:endParaRPr lang="ja-JP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31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EDAからの示唆</a:t>
            </a:r>
            <a:endParaRPr lang="ja-JP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学習期間とテスト期間でOTの水準が大きく異なる（分布シフト）。直前値との相関は0.99以上で、Naiveが強いベースラインになる</a:t>
            </a:r>
            <a:endParaRPr lang="ja-JP" sz="1400" dirty="0"/>
          </a:p>
        </p:txBody>
      </p:sp>
      <p:sp>
        <p:nvSpPr>
          <p:cNvPr id="25" name="Shape 23"/>
          <p:cNvSpPr/>
          <p:nvPr/>
        </p:nvSpPr>
        <p:spPr>
          <a:xfrm>
            <a:off x="4338218" y="37490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6818" y="3931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アプローチと結果</a:t>
            </a:r>
            <a:endParaRPr lang="ja-JP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66818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「直前値＋変化量」をLightGBMで予測し、外挿の問題を回避。日周変動の大きい変圧器ほど改善が大きく、小さい変圧器ではNaiveと同等</a:t>
            </a:r>
            <a:endParaRPr lang="ja-JP" sz="1400" dirty="0"/>
          </a:p>
        </p:txBody>
      </p:sp>
      <p:sp>
        <p:nvSpPr>
          <p:cNvPr id="28" name="Shape 26"/>
          <p:cNvSpPr/>
          <p:nvPr/>
        </p:nvSpPr>
        <p:spPr>
          <a:xfrm>
            <a:off x="8127797" y="37490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6397" y="3931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運用への示唆と次の一手</a:t>
            </a:r>
            <a:endParaRPr lang="ja-JP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356397" y="438912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予測との乖離による異常検知に活用できる見込み。保全計画に必要な数時間〜数日先の予測は未検証で、次のPoCで検証する</a:t>
            </a:r>
            <a:endParaRPr lang="ja-JP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検証設定と前提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1ステップ先のOT予測を、時系列順の学習・検証・テスト分割で評価した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ja-JP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予測対象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OT（変圧器のオイル温度）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予測ホライズン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1ステップ先（ETTh：1時間先、ETTm：15分先）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入力に使う情報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時刻 t−1 以前のセンサー値のみ（下記の仮定）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データ分割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時系列順に 学習60% / 検証10% / テスト30%（シャッフルなし）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評価指標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MAE・RMSE（℃、元のスケール）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ベースライン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Naive：直前のOTをそのまま予測値とする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データセットごとに個別のLightGBM（検証データでearly stopping）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589520" y="182880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データ分割（4データ共通の期間）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2240280"/>
            <a:ext cx="2403043" cy="41148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40280"/>
            <a:ext cx="24030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</a:t>
            </a:r>
            <a:endParaRPr lang="ja-JP" sz="1100" dirty="0"/>
          </a:p>
        </p:txBody>
      </p:sp>
      <p:sp>
        <p:nvSpPr>
          <p:cNvPr id="10" name="Shape 7"/>
          <p:cNvSpPr/>
          <p:nvPr/>
        </p:nvSpPr>
        <p:spPr>
          <a:xfrm>
            <a:off x="10019995" y="2240280"/>
            <a:ext cx="377647" cy="411480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19995" y="2240280"/>
            <a:ext cx="3776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</a:t>
            </a:r>
            <a:endParaRPr lang="ja-JP" sz="1100" dirty="0"/>
          </a:p>
        </p:txBody>
      </p:sp>
      <p:sp>
        <p:nvSpPr>
          <p:cNvPr id="12" name="Shape 9"/>
          <p:cNvSpPr/>
          <p:nvPr/>
        </p:nvSpPr>
        <p:spPr>
          <a:xfrm>
            <a:off x="10425074" y="2240280"/>
            <a:ext cx="1187806" cy="411480"/>
          </a:xfrm>
          <a:prstGeom prst="rect">
            <a:avLst/>
          </a:prstGeom>
          <a:solidFill>
            <a:srgbClr val="E0592A"/>
          </a:solidFill>
          <a:ln w="12700">
            <a:solidFill>
              <a:srgbClr val="E059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5074" y="2240280"/>
            <a:ext cx="11878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ja-JP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2788920"/>
            <a:ext cx="4050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学習：2016/07/01 〜 2017/09/09</a:t>
            </a:r>
            <a:endParaRPr lang="ja-JP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検証：2017/09/09 〜 2017/11/21</a:t>
            </a:r>
            <a:endParaRPr lang="ja-JP" sz="1100" dirty="0"/>
          </a:p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テスト：2017/11/21 〜 2018/06/26</a:t>
            </a:r>
            <a:endParaRPr lang="ja-JP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3886200"/>
            <a:ext cx="4050792" cy="228600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406908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置いた仮定</a:t>
            </a:r>
            <a:endParaRPr lang="ja-JP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526280"/>
            <a:ext cx="3593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課題文の「将来予測」に沿い、時刻 t の予測には t−1 以前の値のみ利用できるとした</a:t>
            </a:r>
            <a:endParaRPr lang="ja-JP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4データは別々の変圧器とみなし、モデルを個別に学習した</a:t>
            </a:r>
            <a:endParaRPr lang="ja-JP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テストデータは最終評価にのみ使用し、調整は検証データで行った</a:t>
            </a:r>
            <a:endParaRPr lang="ja-JP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EDA ①　分布シフト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学習期間とテスト期間でOTの水準が大きく異なる。値を直接予測するモデルは、学習範囲外への外挿に弱い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ja-JP" sz="900" dirty="0"/>
          </a:p>
        </p:txBody>
      </p:sp>
      <p:pic>
        <p:nvPicPr>
          <p:cNvPr id="6" name="Image 0" descr="C:/Users/Toya Kumpei/Downloads/PoC_ETT/assignment-main/outputs/figures/eda/eda_ot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498080" cy="3436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66760" y="1828800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17.3℃ → 6.4℃</a:t>
            </a:r>
            <a:endParaRPr lang="ja-JP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542032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ETTh1の平均OT（学習期間 → テスト期間）</a:t>
            </a:r>
            <a:endParaRPr lang="ja-JP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108960"/>
            <a:ext cx="3276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4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29.2℃ → 21.5℃</a:t>
            </a:r>
            <a:endParaRPr lang="ja-JP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822192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ETTh2の平均OT（学習期間 → テスト期間）</a:t>
            </a:r>
            <a:endParaRPr lang="ja-JP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4434840"/>
            <a:ext cx="32762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テスト期間は冬を含み、学習期間の大半より低温</a:t>
            </a:r>
            <a:endParaRPr lang="ja-JP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決定木は学習データの範囲外の値を出力できない</a:t>
            </a:r>
            <a:endParaRPr lang="ja-JP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予測対象を「変化量」にする判断につながった</a:t>
            </a:r>
            <a:endParaRPr lang="ja-JP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EDA ②　自己相関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OTは直前値との相関が0.99以上で、Naiveが強いベースラインになる。一方、変化量（ΔOT）の自己相関は変圧器によって−0.01〜0.68と大きく異なる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ja-JP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828800"/>
            <a:ext cx="3779215" cy="3840480"/>
          </a:xfrm>
          <a:prstGeom prst="roundRect">
            <a:avLst>
              <a:gd name="adj" fmla="val 193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01168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読み取れること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468880"/>
            <a:ext cx="332201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ΔOTの自己相関が高い＝変化に「勢い」があり、次の変化を予測できる余地がある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ETTh2（0.68）・ETTm2（0.44）は改善の余地が大きいと予想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ETTh1（−0.01）・ETTm1（0.08）の変化はほぼランダムで、Naiveを超えるのは難しいと予想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結果（p.9）はこの予想どおりになった</a:t>
            </a:r>
            <a:endParaRPr lang="ja-JP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EDA ③　日周期と負荷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ETTh2は1日の中で約9℃変動し、時刻が変化の強い手がかりになる。負荷とOTの相関は|r|≤0.5と弱い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ja-JP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C:/Users/Toya Kumpei/Downloads/PoC_ETT/assignment-main/outputs/figures/eda/eda_load_co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330952" cy="20257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09360" y="4023360"/>
            <a:ext cx="5330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ETTh2は朝7時に最低、15時に最高（振れ幅 約9℃）。ETTh1は約2.4℃</a:t>
            </a:r>
            <a:endParaRPr lang="ja-JP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負荷単体ではOTを説明しきれない → 時刻やOTのラグを組み合わせる</a:t>
            </a:r>
            <a:endParaRPr lang="ja-JP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負荷の略称：HUFL/HULL＝高圧の有効/無効負荷、MUFL/MULL＝中圧、LUFL/LULL＝低圧</a:t>
            </a:r>
            <a:endParaRPr lang="ja-JP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アプローチ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EDAを踏まえ、「直前値＋変化量」をLightGBMで予測する構成を採用した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特徴量を作る</a:t>
            </a:r>
            <a:endParaRPr lang="ja-JP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OTのラグ・移動統計・時刻・負荷</a:t>
            </a:r>
            <a:endParaRPr lang="ja-JP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（すべて t−1 以前）</a:t>
            </a:r>
            <a:endParaRPr lang="ja-JP" sz="1200" dirty="0"/>
          </a:p>
        </p:txBody>
      </p:sp>
      <p:sp>
        <p:nvSpPr>
          <p:cNvPr id="9" name="Shape 7"/>
          <p:cNvSpPr/>
          <p:nvPr/>
        </p:nvSpPr>
        <p:spPr>
          <a:xfrm>
            <a:off x="3053029" y="2377440"/>
            <a:ext cx="274320" cy="329184"/>
          </a:xfrm>
          <a:prstGeom prst="rightArrow">
            <a:avLst/>
          </a:prstGeom>
          <a:solidFill>
            <a:srgbClr val="E0592A"/>
          </a:solidFill>
          <a:ln w="12700">
            <a:solidFill>
              <a:srgbClr val="E059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4298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7178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変化量を学習</a:t>
            </a:r>
            <a:endParaRPr lang="ja-JP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7178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目的変数</a:t>
            </a:r>
            <a:endParaRPr lang="ja-JP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ΔOT = OT(t) − OT(t−1)</a:t>
            </a:r>
            <a:endParaRPr lang="ja-JP" sz="1200" dirty="0"/>
          </a:p>
        </p:txBody>
      </p:sp>
      <p:sp>
        <p:nvSpPr>
          <p:cNvPr id="13" name="Shape 11"/>
          <p:cNvSpPr/>
          <p:nvPr/>
        </p:nvSpPr>
        <p:spPr>
          <a:xfrm>
            <a:off x="5958688" y="2377440"/>
            <a:ext cx="274320" cy="329184"/>
          </a:xfrm>
          <a:prstGeom prst="rightArrow">
            <a:avLst/>
          </a:prstGeom>
          <a:solidFill>
            <a:srgbClr val="E0592A"/>
          </a:solidFill>
          <a:ln w="12700">
            <a:solidFill>
              <a:srgbClr val="E059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9957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42837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予測値に戻す</a:t>
            </a:r>
            <a:endParaRPr lang="ja-JP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42837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予測OT(t) =</a:t>
            </a:r>
            <a:endParaRPr lang="ja-JP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OT(t−1) ＋ 予測ΔOT</a:t>
            </a:r>
            <a:endParaRPr lang="ja-JP" sz="1200" dirty="0"/>
          </a:p>
        </p:txBody>
      </p:sp>
      <p:sp>
        <p:nvSpPr>
          <p:cNvPr id="17" name="Shape 15"/>
          <p:cNvSpPr/>
          <p:nvPr/>
        </p:nvSpPr>
        <p:spPr>
          <a:xfrm>
            <a:off x="8864346" y="2377440"/>
            <a:ext cx="274320" cy="329184"/>
          </a:xfrm>
          <a:prstGeom prst="rightArrow">
            <a:avLst/>
          </a:prstGeom>
          <a:solidFill>
            <a:srgbClr val="E0592A"/>
          </a:solidFill>
          <a:ln w="12700">
            <a:solidFill>
              <a:srgbClr val="E059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65615" y="182880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48495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Naiveと比較</a:t>
            </a:r>
            <a:endParaRPr lang="ja-JP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448495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同じテスト期間で</a:t>
            </a:r>
            <a:endParaRPr lang="ja-JP" sz="1200" dirty="0"/>
          </a:p>
          <a:p>
            <a:pPr indent="0" marL="0">
              <a:buNone/>
            </a:pPr>
            <a:r>
              <a:rPr lang="ja-JP" altLang="en-US" sz="1200" dirty="0">
                <a:solidFill>
                  <a:srgbClr val="C9D6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MAE・RMSEを比較</a:t>
            </a:r>
            <a:endParaRPr lang="ja-JP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なぜ変化量を予測するか</a:t>
            </a:r>
            <a:endParaRPr lang="ja-JP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30580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分布シフトがあっても、変化量は常に0付近に分布し外挿が起きにくい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モデルが何も学べなくてもNaive相当になり、大きく負けない</a:t>
            </a:r>
            <a:endParaRPr lang="ja-JP" sz="1350" dirty="0"/>
          </a:p>
        </p:txBody>
      </p:sp>
      <p:sp>
        <p:nvSpPr>
          <p:cNvPr id="24" name="Shape 22"/>
          <p:cNvSpPr/>
          <p:nvPr/>
        </p:nvSpPr>
        <p:spPr>
          <a:xfrm>
            <a:off x="4338218" y="361188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6818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なぜLightGBMか</a:t>
            </a:r>
            <a:endParaRPr lang="ja-JP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66818" y="4251960"/>
            <a:ext cx="30580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1万〜4万行の表形式データで高精度・高速に学習できる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時刻×負荷のような非線形な関係を扱え、重要度で解釈もできる</a:t>
            </a:r>
            <a:endParaRPr lang="ja-JP" sz="1350" dirty="0"/>
          </a:p>
        </p:txBody>
      </p:sp>
      <p:sp>
        <p:nvSpPr>
          <p:cNvPr id="27" name="Shape 25"/>
          <p:cNvSpPr/>
          <p:nvPr/>
        </p:nvSpPr>
        <p:spPr>
          <a:xfrm>
            <a:off x="8127797" y="3611880"/>
            <a:ext cx="3515258" cy="2286000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6397" y="3794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なぜデータごとに別モデルか</a:t>
            </a:r>
            <a:endParaRPr lang="ja-JP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4251960"/>
            <a:ext cx="305805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変圧器ごとに日周変動の大きさや負荷との相関が異なる（EDA③）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ETThとETTmは時間間隔が異なり、ラグの意味が変わる</a:t>
            </a:r>
            <a:endParaRPr lang="ja-JP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特徴量設計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リークを防ぐため、すべての特徴量を時刻 t−1 以前の情報だけで構成した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ja-JP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2834640"/>
                <a:gridCol w="3108960"/>
                <a:gridCol w="20418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グループ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ETTh（1ステップ＝1時間）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ETTm（1ステップ＝15分）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狙い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カレンダー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hour, dayofweek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○（＋minute）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日周期・週周期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OTのラグ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OT(t−k)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 = 1, 2, 3, 6, 12, 24, 48, 168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 = 1, 2, 3, 4, 8, 24, 48, 96, 192, 672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直近の値・1日前・1週間前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移動統計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平均・標準偏差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窓 24, 168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窓 96, 672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最近の水準・変動の大きさ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負荷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6種の負荷(t−1)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発熱の要因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617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800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実時間をそろえる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257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ラグは「ステップ数」で定義。ETThの24とETTmの96は、どちらも「1日前」になる</a:t>
            </a:r>
            <a:endParaRPr lang="ja-JP" sz="1200" dirty="0"/>
          </a:p>
        </p:txBody>
      </p:sp>
      <p:sp>
        <p:nvSpPr>
          <p:cNvPr id="10" name="Shape 7"/>
          <p:cNvSpPr/>
          <p:nvPr/>
        </p:nvSpPr>
        <p:spPr>
          <a:xfrm>
            <a:off x="4338218" y="4617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800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現在値の混入を防ぐ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6818" y="5257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移動統計はOTを1ステップずらしてから計算し、予測対象の値が入らないようにした</a:t>
            </a:r>
            <a:endParaRPr lang="ja-JP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4617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56397" y="48006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monthは不採用</a:t>
            </a:r>
            <a:endParaRPr lang="ja-JP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56397" y="5257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学習期間が約14か月で各月をほぼ1回しか見ていないため。検証でも効果は誤差の範囲だった（p.12）</a:t>
            </a:r>
            <a:endParaRPr lang="ja-JP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テスト期間で、LightGBMはETTh2で43%、ETTm2で22%誤差を削減した。ETTh1・ETTm1はNaiveと同等だった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ja-JP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828800"/>
          <a:ext cx="478231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13232"/>
                <a:gridCol w="950976"/>
                <a:gridCol w="722376"/>
                <a:gridCol w="713232"/>
                <a:gridCol w="9509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Naive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LightGBM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MAE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改善率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RMSE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Naive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RMSE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LightGBM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ETTh1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0.435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0.429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−1.3%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0.628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0.617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ETTh2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0.910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0.516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59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−43.3%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1.278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0.734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ETTm1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0.212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0.213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+0.3%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0.313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0.311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ETTm2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0.231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0.181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059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−21.7%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0.354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0.254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0" y="4434840"/>
            <a:ext cx="4782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改善の大きさは、EDA②のΔOTの自己相関の順番と一致した</a:t>
            </a:r>
            <a:endParaRPr lang="ja-JP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ETTm1はMAEで0.3%劣るが、RMSEでは0.8%改善しており、大きな外れは減っている</a:t>
            </a:r>
            <a:endParaRPr lang="ja-JP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検証データでも同じ傾向で、特定の期間に偶然合わせた結果ではない</a:t>
            </a:r>
            <a:endParaRPr lang="ja-JP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予測例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ETTh2では、日中の上昇と夜間の下降という日周期の動きを追従できている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ja-JP" sz="900" dirty="0"/>
          </a:p>
        </p:txBody>
      </p:sp>
      <p:pic>
        <p:nvPicPr>
          <p:cNvPr id="6" name="Image 0" descr="C:/Users/Toya Kumpei/Downloads/PoC_ETT/assignment-main/outputs/figures/etth2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94415" cy="36981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235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テスト期間の最後の7日間（2018/6/20〜6/26）。青が実測値、オレンジがLightGBMの予測値</a:t>
            </a:r>
            <a:endParaRPr lang="ja-JP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ピーク付近では予測が1ステップ遅れる傾向があり、急な変化の先読みは限定的</a:t>
            </a:r>
            <a:endParaRPr lang="ja-JP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特徴量の重要度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変化量の予測では時刻（hour）の寄与が39〜52%と最も大きく、日周期のパターンが予測の中心になっている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ja-JP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17920" y="17830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532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「この時間帯は上がる／下がる」という日周期が、変化量を予測する主な手がかりになっている</a:t>
            </a:r>
            <a:endParaRPr lang="ja-JP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2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負荷の寄与はETTh1のMUFL（7%）などに限られ、EDA③の相関の弱さと一致する。外気温など外部要因の追加が改善候補</a:t>
            </a:r>
            <a:endParaRPr lang="ja-JP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工夫と設計上の意思決定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最大の改善は「値の予測」から「変化量の予測」への切り替えによるもの。以降の調整は検証データで比較して決めた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ja-JP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651760"/>
                <a:gridCol w="1600200"/>
                <a:gridCol w="3931920"/>
                <a:gridCol w="249905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試した設定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判断に使ったデータ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結果（MAE）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判断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OTの値を直接予測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テスト（初回評価）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4データ中3つでNaiveに負けた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例：ETTh1 0.649 vs Naive 0.435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不採用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変化量を予測（learning_rate 0.03）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4データすべてでNaiveに勝った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例：ETTh2 0.476 vs Naive 0.836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59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＋ month 特徴量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差は最大1%程度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例：ETTh2 0.476 → 0.471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不採用（効果が誤差の範囲で、過学習のリスクがある）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learning_rate 0.03 → 0.01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ETTh2 0.476 → 0.471、ETTm2 0.167 → 0.163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ETTh1・ETTm1は同等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59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採用（最終）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074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リークの防止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5321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時系列順に分割し、シャッフルなし。特徴量はすべて t−1 以前</a:t>
            </a:r>
            <a:endParaRPr lang="ja-JP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48920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5074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テストは最後に1回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6818" y="55321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#1のみ初回評価でテストを使った。以降の調整はすべて検証データで判断した</a:t>
            </a:r>
            <a:endParaRPr lang="ja-JP" sz="1150" dirty="0"/>
          </a:p>
        </p:txBody>
      </p:sp>
      <p:sp>
        <p:nvSpPr>
          <p:cNvPr id="13" name="Shape 10"/>
          <p:cNvSpPr/>
          <p:nvPr/>
        </p:nvSpPr>
        <p:spPr>
          <a:xfrm>
            <a:off x="8127797" y="48920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56397" y="50749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再現性</a:t>
            </a:r>
            <a:endParaRPr lang="ja-JP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56397" y="553212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1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設定をconfig.pyに集約し、乱数シードを固定。3つのスクリプトで再現できる</a:t>
            </a:r>
            <a:endParaRPr lang="ja-JP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運用・保全への示唆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短期予測の精度は「予測との乖離による異常検知」に活用できる見込み。保全計画に必要なリードタイムの確保は、まだ検証できていない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10048" cy="3063240"/>
          </a:xfrm>
          <a:prstGeom prst="roundRect">
            <a:avLst>
              <a:gd name="adj" fmla="val 238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現時点で期待できる価値</a:t>
            </a:r>
            <a:endParaRPr lang="ja-JP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495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予測値と実測値の乖離（残差）を監視し、負荷や時刻を考慮した異常検知ができる。固定の閾値監視より早い段階で異常に気づける可能性がある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例：通常の予測誤差（ETTh2のMAE 約0.5℃）を大きく超える乖離をアラート条件にする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日周変動が大きい変圧器（ETTh2型）ほど効果が大きい</a:t>
            </a:r>
            <a:endParaRPr lang="ja-JP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1828800"/>
            <a:ext cx="5410048" cy="3063240"/>
          </a:xfrm>
          <a:prstGeom prst="roundRect">
            <a:avLst>
              <a:gd name="adj" fmla="val 238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20116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まだ言えないこと</a:t>
            </a:r>
            <a:endParaRPr lang="ja-JP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468880"/>
            <a:ext cx="49528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予測は1時間先・15分先のみ。保全作業の計画に必要な数時間〜数日先の予測精度は未検証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変動の小さい変圧器（ETTh1型）ではNaiveと同等で、予測モデルの追加価値は小さい</a:t>
            </a:r>
            <a:endParaRPr lang="ja-JP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35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異常検知への有効性は、実際の異常事例のデータで確認する必要がある</a:t>
            </a:r>
            <a:endParaRPr lang="ja-JP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6636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次のPoCへの提案　</a:t>
            </a:r>
            <a:pPr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「24時間先の予測」と「残差を使った異常検知」を、実際の異常事例のデータとあわせて検証する</a:t>
            </a:r>
            <a:endParaRPr lang="ja-JP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限界と今後の改善方針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現状は1ステップ先・1つの評価期間での検証にとどまる。予測ホライズンの延長と評価の頑健化を次のステップとする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ja-JP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現時点の限界</a:t>
            </a:r>
            <a:endParaRPr lang="ja-JP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49528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予測ホライズンが1ステップのみ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評価期間が1通り（冬〜初夏の約7か月）で、乱数シードも1つ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ETTh1・ETTm1ではNaiveとの差がほとんどない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外気温などの外部要因を使っていない（負荷では説明できない変動が残る）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値予測を不採用にする判断には、初回評価のテスト結果を使った</a:t>
            </a:r>
            <a:endParaRPr lang="ja-JP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1828800"/>
            <a:ext cx="5410048" cy="365760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201168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今後の改善方針（優先順）</a:t>
            </a:r>
            <a:endParaRPr lang="ja-JP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468880"/>
            <a:ext cx="49528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多ホライズン予測（24時間先など）：保全判断のリードタイムを確保する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ローリング評価：複数の期間・季節で精度が安定するか確認する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外気温データの追加（出典を明記）：負荷で説明できない変動を減らす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予測区間（分位点回帰）：アラート閾値の設計に使う</a:t>
            </a:r>
            <a:endParaRPr lang="ja-JP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ja-JP" altLang="en-US" sz="1400" dirty="0">
                <a:solidFill>
                  <a:srgbClr val="1F2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残差を使った異常検知のプロトタイプ作成</a:t>
            </a:r>
            <a:endParaRPr lang="ja-JP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dirty="0">
                <a:solidFill>
                  <a:srgbClr val="E059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100" b="1" dirty="0">
                <a:solidFill>
                  <a:srgbClr val="1B2A4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実装の構成と再現手順</a:t>
            </a:r>
            <a:endParaRPr lang="ja-JP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ETT オイル温度予測 PoC報告</a:t>
            </a:r>
            <a:endParaRPr lang="ja-JP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ja-JP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src/config.py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パス・分割比率・ラグ・LightGBMのパラメータなど、設定を集約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src/preprocess.py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特徴量の作成と時系列順の分割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src/train.py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変化量の学習（early stopping）・モデル保存・検証スコアの表示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src/evaluate.py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テストデータでの評価（LightGBM vs Naive）・予測グラフの作成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src/eda.py / report_figures.py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EDAと報告用の図の作成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28800"/>
            <a:ext cx="4236415" cy="2468880"/>
          </a:xfrm>
          <a:prstGeom prst="roundRect">
            <a:avLst>
              <a:gd name="adj" fmla="val 296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35240" y="2057400"/>
            <a:ext cx="37792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ja-JP" sz="12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src/preprocess.py</a:t>
            </a:r>
            <a:endParaRPr lang="ja-JP" sz="12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src/train.py</a:t>
            </a:r>
            <a:endParaRPr lang="ja-JP" sz="12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src/evaluate.py</a:t>
            </a:r>
            <a:endParaRPr lang="ja-JP" sz="12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src/eda.py</a:t>
            </a:r>
            <a:endParaRPr lang="ja-JP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12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C63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データ出典：ETDataset（zhouhaoyi/ETDataset, GitHub）</a:t>
            </a:r>
            <a:endParaRPr lang="ja-JP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変圧器オイル温度の短期予測PoC</dc:title>
  <dc:subject>PptxGenJS Presentation</dc:subject>
  <dc:creator>PptxGenJS</dc:creator>
  <cp:lastModifiedBy>PptxGenJS</cp:lastModifiedBy>
  <cp:revision>1</cp:revision>
  <dcterms:created xsi:type="dcterms:W3CDTF">2026-10-01T14:00:34Z</dcterms:created>
  <dcterms:modified xsi:type="dcterms:W3CDTF">2026-10-01T14:00:34Z</dcterms:modified>
</cp:coreProperties>
</file>